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9" r:id="rId5"/>
    <p:sldId id="260" r:id="rId6"/>
    <p:sldId id="273" r:id="rId7"/>
    <p:sldId id="274" r:id="rId8"/>
    <p:sldId id="272" r:id="rId9"/>
    <p:sldId id="271" r:id="rId10"/>
    <p:sldId id="264" r:id="rId11"/>
    <p:sldId id="275" r:id="rId12"/>
    <p:sldId id="265" r:id="rId13"/>
    <p:sldId id="279" r:id="rId14"/>
    <p:sldId id="266" r:id="rId15"/>
    <p:sldId id="267" r:id="rId16"/>
    <p:sldId id="268" r:id="rId17"/>
    <p:sldId id="276" r:id="rId18"/>
    <p:sldId id="277" r:id="rId19"/>
    <p:sldId id="27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BCEB58-5B48-429C-B562-F75DE10CEB05}" v="1" dt="2026-04-26T15:21:54.3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ita Gouda" userId="e8884c816cd419c7" providerId="LiveId" clId="{BE4076EC-3C0A-4E25-A3A3-F9E8EB86953C}"/>
    <pc:docChg chg="undo custSel modSld">
      <pc:chgData name="Ankita Gouda" userId="e8884c816cd419c7" providerId="LiveId" clId="{BE4076EC-3C0A-4E25-A3A3-F9E8EB86953C}" dt="2026-04-26T15:24:07.098" v="35" actId="14100"/>
      <pc:docMkLst>
        <pc:docMk/>
      </pc:docMkLst>
      <pc:sldChg chg="modSp mod">
        <pc:chgData name="Ankita Gouda" userId="e8884c816cd419c7" providerId="LiveId" clId="{BE4076EC-3C0A-4E25-A3A3-F9E8EB86953C}" dt="2026-04-26T15:23:47.837" v="34" actId="14100"/>
        <pc:sldMkLst>
          <pc:docMk/>
          <pc:sldMk cId="0" sldId="264"/>
        </pc:sldMkLst>
        <pc:spChg chg="mod">
          <ac:chgData name="Ankita Gouda" userId="e8884c816cd419c7" providerId="LiveId" clId="{BE4076EC-3C0A-4E25-A3A3-F9E8EB86953C}" dt="2026-04-26T15:23:22.757" v="30" actId="1035"/>
          <ac:spMkLst>
            <pc:docMk/>
            <pc:sldMk cId="0" sldId="264"/>
            <ac:spMk id="8" creationId="{8E0F1267-31A2-4519-080B-9CB8EAFE8A6C}"/>
          </ac:spMkLst>
        </pc:spChg>
        <pc:spChg chg="mod">
          <ac:chgData name="Ankita Gouda" userId="e8884c816cd419c7" providerId="LiveId" clId="{BE4076EC-3C0A-4E25-A3A3-F9E8EB86953C}" dt="2026-04-26T15:23:16.094" v="29" actId="1035"/>
          <ac:spMkLst>
            <pc:docMk/>
            <pc:sldMk cId="0" sldId="264"/>
            <ac:spMk id="11" creationId="{1B298C54-1826-AE63-2526-2D66ADB79868}"/>
          </ac:spMkLst>
        </pc:spChg>
        <pc:spChg chg="mod">
          <ac:chgData name="Ankita Gouda" userId="e8884c816cd419c7" providerId="LiveId" clId="{BE4076EC-3C0A-4E25-A3A3-F9E8EB86953C}" dt="2026-04-26T15:23:47.837" v="34" actId="14100"/>
          <ac:spMkLst>
            <pc:docMk/>
            <pc:sldMk cId="0" sldId="264"/>
            <ac:spMk id="15" creationId="{FE31EAB7-83C3-B285-1C7B-E65288768153}"/>
          </ac:spMkLst>
        </pc:spChg>
        <pc:spChg chg="mod">
          <ac:chgData name="Ankita Gouda" userId="e8884c816cd419c7" providerId="LiveId" clId="{BE4076EC-3C0A-4E25-A3A3-F9E8EB86953C}" dt="2026-04-26T15:23:39.453" v="32" actId="14100"/>
          <ac:spMkLst>
            <pc:docMk/>
            <pc:sldMk cId="0" sldId="264"/>
            <ac:spMk id="17" creationId="{5138EC2D-03D3-FD68-D4D4-F016A4074047}"/>
          </ac:spMkLst>
        </pc:spChg>
        <pc:spChg chg="mod">
          <ac:chgData name="Ankita Gouda" userId="e8884c816cd419c7" providerId="LiveId" clId="{BE4076EC-3C0A-4E25-A3A3-F9E8EB86953C}" dt="2026-04-26T15:21:44.044" v="2" actId="20577"/>
          <ac:spMkLst>
            <pc:docMk/>
            <pc:sldMk cId="0" sldId="264"/>
            <ac:spMk id="18" creationId="{2E414EE6-5E46-BDFF-083C-60EDC405FF52}"/>
          </ac:spMkLst>
        </pc:spChg>
      </pc:sldChg>
      <pc:sldChg chg="modSp mod">
        <pc:chgData name="Ankita Gouda" userId="e8884c816cd419c7" providerId="LiveId" clId="{BE4076EC-3C0A-4E25-A3A3-F9E8EB86953C}" dt="2026-04-26T15:24:07.098" v="35" actId="14100"/>
        <pc:sldMkLst>
          <pc:docMk/>
          <pc:sldMk cId="0" sldId="275"/>
        </pc:sldMkLst>
        <pc:spChg chg="mod">
          <ac:chgData name="Ankita Gouda" userId="e8884c816cd419c7" providerId="LiveId" clId="{BE4076EC-3C0A-4E25-A3A3-F9E8EB86953C}" dt="2026-04-26T15:24:07.098" v="35" actId="14100"/>
          <ac:spMkLst>
            <pc:docMk/>
            <pc:sldMk cId="0" sldId="275"/>
            <ac:spMk id="8" creationId="{7B692D99-E74B-2435-67DE-713825F3B1E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Attrition Split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97F-4CA7-BB72-CAC3CEE1DA96}"/>
              </c:ext>
            </c:extLst>
          </c:dPt>
          <c:dPt>
            <c:idx val="1"/>
            <c:bubble3D val="0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97F-4CA7-BB72-CAC3CEE1DA96}"/>
              </c:ext>
            </c:extLst>
          </c:dPt>
          <c:cat>
            <c:strRef>
              <c:f>Sheet1!$A$2:$A$3</c:f>
              <c:strCache>
                <c:ptCount val="2"/>
                <c:pt idx="0">
                  <c:v>Stayed — 84%</c:v>
                </c:pt>
                <c:pt idx="1">
                  <c:v>Left — 16%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</c:v>
                </c:pt>
                <c:pt idx="1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7F-4CA7-BB72-CAC3CEE1DA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7421259842519682"/>
          <c:y val="0.83564101792481427"/>
          <c:w val="0.66025535870516183"/>
          <c:h val="0.12341070158053914"/>
        </c:manualLayout>
      </c:layout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Attrition by Department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Stayed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Sales</c:v>
                </c:pt>
                <c:pt idx="1">
                  <c:v>R&amp;D</c:v>
                </c:pt>
                <c:pt idx="2">
                  <c:v>HR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329</c:v>
                </c:pt>
                <c:pt idx="1">
                  <c:v>828</c:v>
                </c:pt>
                <c:pt idx="2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6D-4EC2-A2F2-B47B0A7514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Left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Sales</c:v>
                </c:pt>
                <c:pt idx="1">
                  <c:v>R&amp;D</c:v>
                </c:pt>
                <c:pt idx="2">
                  <c:v>HR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</c:v>
                </c:pt>
                <c:pt idx="1">
                  <c:v>133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6D-4EC2-A2F2-B47B0A7514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11D0B-03B8-4AF2-95CD-2412FF693307}" type="datetimeFigureOut">
              <a:rPr lang="en-IN" smtClean="0"/>
              <a:t>27-04-2026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74C35-6500-4057-9A4F-05493A295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179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74C35-6500-4057-9A4F-05493A29583B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569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DE82C-8B16-23BC-174D-46F9C22D6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535E6C-4813-D7DD-CA48-92EB4113D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EDC29-3BEF-EBAE-D75B-BD3CB60FD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28200-6D55-4908-AF83-5F0EA0AB30EB}" type="datetime1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5B1CB-8250-210D-0660-5F9E75874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BAB7B-85B7-860A-6D1F-11A0FD4C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FEA1-0001-416B-A07F-81AD3060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941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45825-239F-48BB-7DB6-2C2614346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50957-36B2-0194-3940-AB840F1A6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EA42A-F1E1-1275-6512-FF4AB2B9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3DFDA-3E8E-463C-AE8A-4E57F6A5BCC2}" type="datetime1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6B345-4AD2-531D-5EA7-0BF47CCFE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76B3C-0876-5D74-B62F-0765C0DEB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FEA1-0001-416B-A07F-81AD3060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268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C7B4D-E439-2B9B-87FF-5ACF0D74A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8F5AE-F433-B4A5-6564-F8EC3257F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775F6-1C31-23F4-14EC-900E2B1CB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23525-0E33-4260-8A1C-D6A4108729B9}" type="datetime1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64848-FA2E-F61E-62E9-B991DC9B3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67587-E83E-1473-B071-9D79443BF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FEA1-0001-416B-A07F-81AD3060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271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DBB3-9D91-B684-2F30-055E4383E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3959B-0B36-9388-9D31-FAEC47895C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4BB9D-21D5-4D8F-F8FE-9777E2E6C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06644-58F9-0180-069D-589E6210A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30C61-92C0-4100-B5BB-225829B28A14}" type="datetime1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7E6C9-B80E-B312-AFED-DC1D71F71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4D076-A4DE-F067-6B67-47CE4886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FEA1-0001-416B-A07F-81AD3060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225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C8CC0-9E88-D000-1052-C78C8C244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362D6-B75E-2328-CDA1-39B475BF1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DB338-CDC9-F81C-3146-D0A0EB94B7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CAF7D7-E89C-BB5F-81A4-85EE1D72A0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CDFFEA-6DF2-AD48-1043-8F5F0DAD72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AA219F-281A-DC4F-84DD-750EDA30C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C408-9982-4FE3-B398-57871E8DA658}" type="datetime1">
              <a:rPr lang="en-IN" smtClean="0"/>
              <a:t>27-04-2026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DDFA08-CE68-3037-6061-52A86CB60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4BE01F-0715-0A34-02B9-B33893E93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FEA1-0001-416B-A07F-81AD3060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281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13A14-677C-0CBE-D74A-0E74A6943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FE43CD-DDAA-368B-EEEB-868EFFB8D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80BD9-65BB-4D90-9AA1-EB9696F9B39A}" type="datetime1">
              <a:rPr lang="en-IN" smtClean="0"/>
              <a:t>27-04-2026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0C804B-DBD6-3D2C-014B-0EB158F80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A9DBB-5181-CCAA-24E1-865EEF89B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FEA1-0001-416B-A07F-81AD3060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88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6B30FC-AC1E-57B8-AC05-C618A98DD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2857-64FB-45A3-A471-3F6E8A965A7B}" type="datetime1">
              <a:rPr lang="en-IN" smtClean="0"/>
              <a:t>27-04-2026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903211-D30D-30A9-FAC7-2D6E628BA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2BCB8-8D44-B312-151A-31DFF0BDC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FEA1-0001-416B-A07F-81AD3060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737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1B302-4B29-9CBD-EF20-FFC55CCE8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5BC72-C2F1-4372-76DC-332D19363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DA3CE-F88A-44FC-0306-4CA0A1EF4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DA00A-93B3-8024-A0E6-6D4C92462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315-680C-44F3-9C25-FC64C05B6EF1}" type="datetime1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B0FB1-1148-8E98-DF54-D5BA09167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F9506-424D-A4F6-498E-CC87F28B0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FEA1-0001-416B-A07F-81AD3060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654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5314-5DED-7C64-5033-BF0FC8B39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378109-523E-C42F-111B-1BF4A59236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10E028-7983-D793-9CBF-8F02C9305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B4CB6-0CD4-BCE7-F985-DB982D5A7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BC741-1A12-4B3E-841E-E312ABD2EF06}" type="datetime1">
              <a:rPr lang="en-IN" smtClean="0"/>
              <a:t>27-04-2026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F46F1-7F0E-D17B-C600-3AA9C560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AE376-869B-9221-522B-4A700E31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FEA1-0001-416B-A07F-81AD3060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8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D8046-FBCE-8B4F-A600-4AFEDF7B6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97FC73-164D-2149-24AC-32B33788D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D147E-2FB0-E588-DE34-37BE3F03C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08150-12E8-4E90-A9A0-D020BC5B0808}" type="datetime1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4651D-0A72-8D1F-5935-4BA5FE83D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430BE-8156-BCE1-A3F7-2CB50A888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FEA1-0001-416B-A07F-81AD3060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423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2EB4A9-77F4-C014-B554-AA7FBF9508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13085-AE05-8C2A-2401-10C16B169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5C91F-9354-96EE-2A25-5F4C092F9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44A45-E06A-4F59-B479-296B5EB98DCF}" type="datetime1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A7C61-CC42-5C91-C747-7326C9F72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C2D1E-FEE0-CF9E-CD94-C8471A185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BFEA1-0001-416B-A07F-81AD3060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017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11C110-E899-C827-3598-01AE06008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A5785-8940-DED1-9EFE-2BE96D6F2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DECAC-6D0B-8C91-B3E5-5ABBDD32FC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C4C2C-D43D-4B88-8E1A-91635A4EC9F7}" type="datetime1">
              <a:rPr lang="en-IN" smtClean="0"/>
              <a:t>27-04-2026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9F4B4-6185-0788-729C-078008A522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A8B6-55DE-6302-F3F9-2FAA761A7E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BFEA1-0001-416B-A07F-81AD3060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344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7871" y="29985"/>
            <a:ext cx="11356258" cy="1712451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tx2"/>
                </a:solidFill>
                <a:latin typeface="Bahnschrift SemiBold" panose="020B0502040204020203" pitchFamily="34" charset="0"/>
              </a:rPr>
              <a:t>EMPLOYEE PERFORMANCE AND</a:t>
            </a:r>
            <a:br>
              <a:rPr lang="en-IN" sz="4400" dirty="0">
                <a:solidFill>
                  <a:schemeClr val="tx2"/>
                </a:solidFill>
                <a:latin typeface="Bahnschrift SemiBold" panose="020B0502040204020203" pitchFamily="34" charset="0"/>
              </a:rPr>
            </a:br>
            <a:r>
              <a:rPr lang="en-US" sz="4400" dirty="0">
                <a:solidFill>
                  <a:schemeClr val="tx2"/>
                </a:solidFill>
                <a:latin typeface="Bahnschrift SemiBold" panose="020B0502040204020203" pitchFamily="34" charset="0"/>
              </a:rPr>
              <a:t>ATTRITION EARLY WARNING SYSTEM</a:t>
            </a:r>
            <a:endParaRPr lang="en-US" sz="4400" b="1" dirty="0">
              <a:solidFill>
                <a:schemeClr val="tx2"/>
              </a:solidFill>
              <a:latin typeface="Bahnschrift SemiBold" panose="020B0502040204020203" pitchFamily="34" charset="0"/>
            </a:endParaRPr>
          </a:p>
          <a:p>
            <a:r>
              <a:rPr lang="en-US" sz="2800" dirty="0">
                <a:solidFill>
                  <a:schemeClr val="tx2"/>
                </a:solidFill>
                <a:latin typeface="Bahnschrift SemiBold" panose="020B0502040204020203" pitchFamily="34" charset="0"/>
              </a:rPr>
              <a:t>Using Machine Learning &amp; Streamlit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067665"/>
            <a:ext cx="12192000" cy="379033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85136" y="3221923"/>
            <a:ext cx="40410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Segoe UI Variable Display" pitchFamily="2" charset="0"/>
              </a:rPr>
              <a:t>Guided by:</a:t>
            </a:r>
          </a:p>
          <a:p>
            <a:r>
              <a:rPr lang="en-US" sz="2000" dirty="0">
                <a:solidFill>
                  <a:schemeClr val="bg1"/>
                </a:solidFill>
                <a:latin typeface="Segoe UI Variable Display" pitchFamily="2" charset="0"/>
              </a:rPr>
              <a:t>Prof. SUNANDA NAYAK</a:t>
            </a:r>
          </a:p>
          <a:p>
            <a:r>
              <a:rPr lang="en-US" sz="2000" dirty="0">
                <a:solidFill>
                  <a:schemeClr val="bg1"/>
                </a:solidFill>
                <a:latin typeface="Segoe UI Variable Display" pitchFamily="2" charset="0"/>
              </a:rPr>
              <a:t>Department of CSE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0740" y="1981892"/>
            <a:ext cx="4814780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tx2"/>
                </a:solidFill>
                <a:latin typeface="Segoe UI Semilight" panose="020B0402040204020203" pitchFamily="34" charset="0"/>
              </a:rPr>
              <a:t>Final Year Project Presentation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Segoe UI Semilight" panose="020B0402040204020203" pitchFamily="34" charset="0"/>
              </a:rPr>
              <a:t>2022-2026</a:t>
            </a:r>
          </a:p>
        </p:txBody>
      </p:sp>
      <p:sp>
        <p:nvSpPr>
          <p:cNvPr id="30" name="Rectangle: Rounded Corners 29"/>
          <p:cNvSpPr/>
          <p:nvPr/>
        </p:nvSpPr>
        <p:spPr>
          <a:xfrm>
            <a:off x="211015" y="4985610"/>
            <a:ext cx="5695217" cy="1537856"/>
          </a:xfrm>
          <a:prstGeom prst="roundRect">
            <a:avLst>
              <a:gd name="adj" fmla="val 1598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235" y="5106993"/>
            <a:ext cx="827079" cy="799770"/>
          </a:xfrm>
          <a:prstGeom prst="rect">
            <a:avLst/>
          </a:prstGeom>
        </p:spPr>
      </p:pic>
      <p:sp>
        <p:nvSpPr>
          <p:cNvPr id="90" name="TextBox 90"/>
          <p:cNvSpPr txBox="1"/>
          <p:nvPr/>
        </p:nvSpPr>
        <p:spPr>
          <a:xfrm>
            <a:off x="893053" y="5289401"/>
            <a:ext cx="4937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Segoe UI Variable Display" pitchFamily="2" charset="0"/>
              </a:rPr>
              <a:t>DEPARTMENT OF COMPUTER SCIENCE AND ENGINEERING</a:t>
            </a:r>
          </a:p>
          <a:p>
            <a:pPr algn="ctr"/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Segoe UI Variable Display" pitchFamily="2" charset="0"/>
              </a:rPr>
              <a:t>VIGNAN INSTITUTE OF TECHNOLOGY AND MANAGEMENT</a:t>
            </a:r>
          </a:p>
          <a:p>
            <a:pPr algn="ctr"/>
            <a:r>
              <a:rPr lang="en-US" sz="1200" b="1" dirty="0">
                <a:solidFill>
                  <a:schemeClr val="accent1">
                    <a:lumMod val="50000"/>
                  </a:schemeClr>
                </a:solidFill>
                <a:latin typeface="Segoe UI Variable Display" pitchFamily="2" charset="0"/>
              </a:rPr>
              <a:t>BERHAMPUR, ODISHA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8787633"/>
              </p:ext>
            </p:extLst>
          </p:nvPr>
        </p:nvGraphicFramePr>
        <p:xfrm>
          <a:off x="7334406" y="3935732"/>
          <a:ext cx="4400000" cy="19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TANUSHREE PATRO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2201301128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ANKITA GOUDA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2201301012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KAJAL JENA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2201301055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SAGARIKA HOTA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2201301089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SANJANA K. MOHANTY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Garamond" panose="02020404030301010803" pitchFamily="18" charset="0"/>
                        </a:rPr>
                        <a:t>2201301093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68BBB27-FF71-790F-AAB8-AC89F987AF61}"/>
              </a:ext>
            </a:extLst>
          </p:cNvPr>
          <p:cNvCxnSpPr/>
          <p:nvPr/>
        </p:nvCxnSpPr>
        <p:spPr>
          <a:xfrm>
            <a:off x="285136" y="4672540"/>
            <a:ext cx="5476567" cy="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7C0E7F2-D49B-D35B-699A-6ED780186FF7}"/>
              </a:ext>
            </a:extLst>
          </p:cNvPr>
          <p:cNvCxnSpPr>
            <a:cxnSpLocks/>
          </p:cNvCxnSpPr>
          <p:nvPr/>
        </p:nvCxnSpPr>
        <p:spPr>
          <a:xfrm>
            <a:off x="3544675" y="1995842"/>
            <a:ext cx="510264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A01448F-6C72-837D-7635-B1896CD16C56}"/>
              </a:ext>
            </a:extLst>
          </p:cNvPr>
          <p:cNvSpPr txBox="1"/>
          <p:nvPr/>
        </p:nvSpPr>
        <p:spPr>
          <a:xfrm>
            <a:off x="7334406" y="3270866"/>
            <a:ext cx="3506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Segoe UI Variable Display" pitchFamily="2" charset="0"/>
                <a:cs typeface="Segoe UI Semilight" panose="020B0402040204020203" pitchFamily="34" charset="0"/>
              </a:rPr>
              <a:t>Prepared by: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426" y="14023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</a:rPr>
              <a:t>Contents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838201" y="1238865"/>
            <a:ext cx="47686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" y="1238865"/>
            <a:ext cx="1061884" cy="561913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2" name="TextBox 41"/>
          <p:cNvSpPr txBox="1"/>
          <p:nvPr/>
        </p:nvSpPr>
        <p:spPr>
          <a:xfrm>
            <a:off x="667337" y="1265019"/>
            <a:ext cx="10800000" cy="5360442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dirty="0">
                <a:solidFill>
                  <a:schemeClr val="bg1"/>
                </a:solidFill>
                <a:latin typeface="Segoe UI Variable Display" pitchFamily="2" charset="0"/>
              </a:rPr>
              <a:t>01</a:t>
            </a:r>
            <a:r>
              <a:rPr lang="en-US" sz="2000" dirty="0">
                <a:latin typeface="Segoe UI Variable Display" pitchFamily="2" charset="0"/>
              </a:rPr>
              <a:t>  Introduction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dirty="0">
                <a:solidFill>
                  <a:schemeClr val="bg1"/>
                </a:solidFill>
                <a:latin typeface="Segoe UI Variable Display" pitchFamily="2" charset="0"/>
              </a:rPr>
              <a:t>02</a:t>
            </a:r>
            <a:r>
              <a:rPr lang="en-US" sz="2000" dirty="0">
                <a:latin typeface="Segoe UI Variable Display" pitchFamily="2" charset="0"/>
              </a:rPr>
              <a:t>  Project Objective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dirty="0">
                <a:solidFill>
                  <a:schemeClr val="bg1"/>
                </a:solidFill>
                <a:latin typeface="Segoe UI Variable Display" pitchFamily="2" charset="0"/>
              </a:rPr>
              <a:t>03</a:t>
            </a:r>
            <a:r>
              <a:rPr lang="en-US" sz="2000" dirty="0">
                <a:latin typeface="Segoe UI Variable Display" pitchFamily="2" charset="0"/>
              </a:rPr>
              <a:t>  Dataset Description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dirty="0">
                <a:solidFill>
                  <a:schemeClr val="bg1"/>
                </a:solidFill>
                <a:latin typeface="Segoe UI Variable Display" pitchFamily="2" charset="0"/>
              </a:rPr>
              <a:t>04</a:t>
            </a:r>
            <a:r>
              <a:rPr lang="en-US" sz="2000" dirty="0">
                <a:latin typeface="Segoe UI Variable Display" pitchFamily="2" charset="0"/>
              </a:rPr>
              <a:t>  Important Features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dirty="0">
                <a:solidFill>
                  <a:schemeClr val="bg1"/>
                </a:solidFill>
                <a:latin typeface="Segoe UI Variable Display" pitchFamily="2" charset="0"/>
              </a:rPr>
              <a:t>05</a:t>
            </a:r>
            <a:r>
              <a:rPr lang="en-US" sz="2000" dirty="0">
                <a:latin typeface="Segoe UI Variable Display" pitchFamily="2" charset="0"/>
              </a:rPr>
              <a:t>  Data Cleaning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dirty="0">
                <a:solidFill>
                  <a:schemeClr val="bg1"/>
                </a:solidFill>
                <a:latin typeface="Segoe UI Variable Display" pitchFamily="2" charset="0"/>
              </a:rPr>
              <a:t>06</a:t>
            </a:r>
            <a:r>
              <a:rPr lang="en-US" sz="2000" dirty="0">
                <a:latin typeface="Segoe UI Variable Display" pitchFamily="2" charset="0"/>
              </a:rPr>
              <a:t>  Exploratory Data Analysis (EDA)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dirty="0">
                <a:solidFill>
                  <a:schemeClr val="bg1"/>
                </a:solidFill>
                <a:latin typeface="Segoe UI Variable Display" pitchFamily="2" charset="0"/>
              </a:rPr>
              <a:t>07</a:t>
            </a:r>
            <a:r>
              <a:rPr lang="en-US" sz="2000" dirty="0">
                <a:latin typeface="Segoe UI Variable Display" pitchFamily="2" charset="0"/>
              </a:rPr>
              <a:t>  Machine Learning Models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dirty="0">
                <a:solidFill>
                  <a:schemeClr val="bg1"/>
                </a:solidFill>
                <a:latin typeface="Segoe UI Variable Display" pitchFamily="2" charset="0"/>
              </a:rPr>
              <a:t>08</a:t>
            </a:r>
            <a:r>
              <a:rPr lang="en-US" sz="2000" dirty="0">
                <a:latin typeface="Segoe UI Variable Display" pitchFamily="2" charset="0"/>
              </a:rPr>
              <a:t>  Python Implementation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chemeClr val="bg1"/>
                </a:solidFill>
                <a:latin typeface="Segoe UI Variable Display" pitchFamily="2" charset="0"/>
              </a:rPr>
              <a:t>09 </a:t>
            </a:r>
            <a:r>
              <a:rPr lang="en-US" sz="2000" dirty="0">
                <a:latin typeface="Segoe UI Variable Display" pitchFamily="2" charset="0"/>
              </a:rPr>
              <a:t>Streamlit Dashboard — 4 Pages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chemeClr val="bg1"/>
                </a:solidFill>
                <a:latin typeface="Segoe UI Variable Display" pitchFamily="2" charset="0"/>
              </a:rPr>
              <a:t>10  </a:t>
            </a:r>
            <a:r>
              <a:rPr lang="en-US" sz="2000" dirty="0">
                <a:latin typeface="Segoe UI Variable Display" pitchFamily="2" charset="0"/>
              </a:rPr>
              <a:t>Results &amp; Model Comparison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chemeClr val="bg1"/>
                </a:solidFill>
                <a:latin typeface="Segoe UI Variable Display" pitchFamily="2" charset="0"/>
              </a:rPr>
              <a:t>11   </a:t>
            </a:r>
            <a:r>
              <a:rPr lang="en-US" sz="2000" dirty="0">
                <a:latin typeface="Segoe UI Variable Display" pitchFamily="2" charset="0"/>
              </a:rPr>
              <a:t>Key  Findings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chemeClr val="bg1"/>
                </a:solidFill>
                <a:latin typeface="Segoe UI Variable Display" pitchFamily="2" charset="0"/>
              </a:rPr>
              <a:t>12</a:t>
            </a:r>
            <a:r>
              <a:rPr lang="en-US" sz="2000" dirty="0">
                <a:latin typeface="Segoe UI Variable Display" pitchFamily="2" charset="0"/>
              </a:rPr>
              <a:t>  Advantages &amp; Limitations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dirty="0">
                <a:solidFill>
                  <a:schemeClr val="bg1"/>
                </a:solidFill>
                <a:latin typeface="Segoe UI Variable Display" pitchFamily="2" charset="0"/>
              </a:rPr>
              <a:t>13</a:t>
            </a:r>
            <a:r>
              <a:rPr lang="en-US" sz="2000" dirty="0">
                <a:latin typeface="Segoe UI Variable Display" pitchFamily="2" charset="0"/>
              </a:rPr>
              <a:t>  Conclusion &amp; Future Work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dirty="0">
                <a:solidFill>
                  <a:schemeClr val="bg1"/>
                </a:solidFill>
                <a:latin typeface="Segoe UI Variable Display" pitchFamily="2" charset="0"/>
              </a:rPr>
              <a:t>14</a:t>
            </a:r>
            <a:r>
              <a:rPr lang="en-US" sz="2000" dirty="0">
                <a:latin typeface="Segoe UI Variable Display" pitchFamily="2" charset="0"/>
              </a:rPr>
              <a:t>  References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90273"/>
            <a:ext cx="12192000" cy="26772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TextBox 49"/>
          <p:cNvSpPr txBox="1"/>
          <p:nvPr/>
        </p:nvSpPr>
        <p:spPr>
          <a:xfrm>
            <a:off x="11543071" y="65394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1" name="Rectangle: Rounded Corners 50"/>
          <p:cNvSpPr/>
          <p:nvPr/>
        </p:nvSpPr>
        <p:spPr>
          <a:xfrm>
            <a:off x="10991028" y="192464"/>
            <a:ext cx="948116" cy="104640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651" y="348530"/>
            <a:ext cx="759341" cy="73426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282947" y="6600105"/>
            <a:ext cx="412003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Variable Display" pitchFamily="2" charset="0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426" y="14023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</a:rPr>
              <a:t>Introduction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1238865"/>
            <a:ext cx="1061884" cy="561913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ectangle 47"/>
          <p:cNvSpPr/>
          <p:nvPr/>
        </p:nvSpPr>
        <p:spPr>
          <a:xfrm>
            <a:off x="0" y="6590273"/>
            <a:ext cx="12192000" cy="26772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TextBox 49"/>
          <p:cNvSpPr txBox="1"/>
          <p:nvPr/>
        </p:nvSpPr>
        <p:spPr>
          <a:xfrm>
            <a:off x="11543071" y="65394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1" name="Rectangle: Rounded Corners 50"/>
          <p:cNvSpPr/>
          <p:nvPr/>
        </p:nvSpPr>
        <p:spPr>
          <a:xfrm>
            <a:off x="10991028" y="192464"/>
            <a:ext cx="948116" cy="104640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651" y="348530"/>
            <a:ext cx="759341" cy="7342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2947" y="6600105"/>
            <a:ext cx="52758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Variable Display" pitchFamily="2" charset="0"/>
              </a:rPr>
              <a:t>DEPARTMENT OF COMPUTER SCIENCE AND ENGINEERING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838201" y="1238865"/>
            <a:ext cx="47686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684" y="1394931"/>
            <a:ext cx="10879459" cy="51000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just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Lucida Bright" panose="02040602050505020304" pitchFamily="18" charset="0"/>
              </a:rPr>
              <a:t>What is Employee Attrition?</a:t>
            </a:r>
            <a:r>
              <a:rPr lang="en-US" sz="1800" dirty="0">
                <a:latin typeface="Lucida Bright" panose="02040602050505020304" pitchFamily="18" charset="0"/>
              </a:rPr>
              <a:t> — The gradual reduction in workforce due to resignations, retirements, or other separations from the organization.</a:t>
            </a:r>
          </a:p>
          <a:p>
            <a:pPr algn="just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Lucida Bright" panose="02040602050505020304" pitchFamily="18" charset="0"/>
              </a:rPr>
              <a:t>Business Impact:</a:t>
            </a:r>
            <a:r>
              <a:rPr lang="en-US" sz="1800" dirty="0">
                <a:latin typeface="Lucida Bright" panose="02040602050505020304" pitchFamily="18" charset="0"/>
              </a:rPr>
              <a:t> High attrition leads to increased recruitment &amp; training costs, loss of organizational knowledge, reduced productivity, and disrupted team dynamics.</a:t>
            </a:r>
          </a:p>
          <a:p>
            <a:pPr algn="just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Lucida Bright" panose="02040602050505020304" pitchFamily="18" charset="0"/>
              </a:rPr>
              <a:t>Problem with Traditional HR:</a:t>
            </a:r>
            <a:r>
              <a:rPr lang="en-US" sz="1800" dirty="0">
                <a:latin typeface="Lucida Bright" panose="02040602050505020304" pitchFamily="18" charset="0"/>
              </a:rPr>
              <a:t> HR teams rely on manual surveys, exit interviews &amp; instinct — reactive methods that address attrition only AFTER employees resign.</a:t>
            </a:r>
          </a:p>
          <a:p>
            <a:pPr algn="just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Lucida Bright" panose="02040602050505020304" pitchFamily="18" charset="0"/>
              </a:rPr>
              <a:t>Role of Machine Learning &amp; People Analytics:</a:t>
            </a:r>
            <a:r>
              <a:rPr lang="en-US" sz="1800" dirty="0">
                <a:latin typeface="Lucida Bright" panose="02040602050505020304" pitchFamily="18" charset="0"/>
              </a:rPr>
              <a:t> ML analyzes large volumes of employee data (salary, overtime, satisfaction, performance) to uncover hidden patterns and predict attrition risk early — enabling proactive retention strategies.</a:t>
            </a:r>
          </a:p>
          <a:p>
            <a:pPr algn="just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Lucida Bright" panose="02040602050505020304" pitchFamily="18" charset="0"/>
              </a:rPr>
              <a:t>Our Project:</a:t>
            </a:r>
            <a:r>
              <a:rPr lang="en-US" sz="1800" dirty="0">
                <a:latin typeface="Lucida Bright" panose="02040602050505020304" pitchFamily="18" charset="0"/>
              </a:rPr>
              <a:t> Build and compare 4 ML models on the IBM HR Analytics dataset (1,470 records, 35 features), then deploy the best-performing model as an interactive 4-page Streamlit dashboard for real-time HR prediction.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426" y="14023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</a:rPr>
              <a:t>Project Objective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1238865"/>
            <a:ext cx="1061884" cy="561913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ectangle 47"/>
          <p:cNvSpPr/>
          <p:nvPr/>
        </p:nvSpPr>
        <p:spPr>
          <a:xfrm>
            <a:off x="0" y="6590273"/>
            <a:ext cx="12192000" cy="26772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TextBox 49"/>
          <p:cNvSpPr txBox="1"/>
          <p:nvPr/>
        </p:nvSpPr>
        <p:spPr>
          <a:xfrm>
            <a:off x="11543071" y="65394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Rectangle: Rounded Corners 50"/>
          <p:cNvSpPr/>
          <p:nvPr/>
        </p:nvSpPr>
        <p:spPr>
          <a:xfrm>
            <a:off x="10991028" y="192464"/>
            <a:ext cx="948116" cy="104640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651" y="348530"/>
            <a:ext cx="759341" cy="7342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2947" y="6600105"/>
            <a:ext cx="52758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Variable Display" pitchFamily="2" charset="0"/>
              </a:rPr>
              <a:t>DEPARTMENT OF COMPUTER SCIENCE AND ENGINEERING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838201" y="1238865"/>
            <a:ext cx="47686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684" y="1394931"/>
            <a:ext cx="10879459" cy="510000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ucida Bright" panose="02040602050505020304" pitchFamily="18" charset="0"/>
              </a:rPr>
              <a:t>Predict whether an employee will leave the company using the IBM HR Analytics dataset (1,470 employee records, 35 features).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ucida Bright" panose="02040602050505020304" pitchFamily="18" charset="0"/>
              </a:rPr>
              <a:t>Analyze key HR features — Age, OverTime, Monthly Income, Job Satisfaction, Department — and understand their impact on attrition.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ucida Bright" panose="02040602050505020304" pitchFamily="18" charset="0"/>
              </a:rPr>
              <a:t>Train and compare 4 ML models: Logistic Regression, Decision Tree, Random Forest, and Gradient Boosting.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ucida Bright" panose="02040602050505020304" pitchFamily="18" charset="0"/>
              </a:rPr>
              <a:t>Evaluate each model using Accuracy, Precision, Recall, F1 Score, and AUC-ROC Score.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ucida Bright" panose="02040602050505020304" pitchFamily="18" charset="0"/>
              </a:rPr>
              <a:t>Deploy the best-performing model as an interactive 4-page Streamlit dashboard for real-time HR prediction.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ucida Bright" panose="02040602050505020304" pitchFamily="18" charset="0"/>
              </a:rPr>
              <a:t>Identify the top features driving attrition to provide actionable insights for HR retention strategies.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426" y="14023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</a:rPr>
              <a:t>Dataset 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1238865"/>
            <a:ext cx="1061884" cy="561913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ectangle 47"/>
          <p:cNvSpPr/>
          <p:nvPr/>
        </p:nvSpPr>
        <p:spPr>
          <a:xfrm>
            <a:off x="0" y="6590273"/>
            <a:ext cx="12192000" cy="26772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TextBox 49"/>
          <p:cNvSpPr txBox="1"/>
          <p:nvPr/>
        </p:nvSpPr>
        <p:spPr>
          <a:xfrm>
            <a:off x="11543071" y="65394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51" name="Rectangle: Rounded Corners 50"/>
          <p:cNvSpPr/>
          <p:nvPr/>
        </p:nvSpPr>
        <p:spPr>
          <a:xfrm>
            <a:off x="10991028" y="192464"/>
            <a:ext cx="948116" cy="104640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651" y="348530"/>
            <a:ext cx="759341" cy="7342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2947" y="6600105"/>
            <a:ext cx="52758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Variable Display" pitchFamily="2" charset="0"/>
              </a:rPr>
              <a:t>DEPARTMENT OF COMPUTER SCIENCE AND ENGINEERING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838201" y="1238865"/>
            <a:ext cx="47686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684" y="1394931"/>
            <a:ext cx="10879459" cy="51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Lucida Bright" panose="02040602050505020304" pitchFamily="18" charset="0"/>
              </a:rPr>
              <a:t>Dataset Name: IBM HR Analytics Employee Attrition &amp; Performance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Lucida Bright" panose="02040602050505020304" pitchFamily="18" charset="0"/>
              </a:rPr>
              <a:t>Source: Kaggle — Publicly Available (Free Download)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Lucida Bright" panose="02040602050505020304" pitchFamily="18" charset="0"/>
              </a:rPr>
              <a:t>Total Records: 1,470 employees with 35 attributes per employee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Lucida Bright" panose="02040602050505020304" pitchFamily="18" charset="0"/>
              </a:rPr>
              <a:t>Target Variable: Attrition — Yes (237, 16.1%) / No (1,233, 83.9%)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Lucida Bright" panose="02040602050505020304" pitchFamily="18" charset="0"/>
              </a:rPr>
              <a:t>Real-world IBM company HR data with a mix of numerical &amp; categorical features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Lucida Bright" panose="02040602050505020304" pitchFamily="18" charset="0"/>
              </a:rPr>
              <a:t>No missing values — clean, reliable, ready-to-use dataset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Lucida Bright" panose="02040602050505020304" pitchFamily="18" charset="0"/>
              </a:rPr>
              <a:t>Class Imbalance: 83.9% stayed vs 16.1% left — model may be conservative in predicting attrition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426" y="14023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</a:rPr>
              <a:t>Important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1238865"/>
            <a:ext cx="1061884" cy="561913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ectangle 47"/>
          <p:cNvSpPr/>
          <p:nvPr/>
        </p:nvSpPr>
        <p:spPr>
          <a:xfrm>
            <a:off x="0" y="6590273"/>
            <a:ext cx="12192000" cy="26772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TextBox 49"/>
          <p:cNvSpPr txBox="1"/>
          <p:nvPr/>
        </p:nvSpPr>
        <p:spPr>
          <a:xfrm>
            <a:off x="11543071" y="65394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51" name="Rectangle: Rounded Corners 50"/>
          <p:cNvSpPr/>
          <p:nvPr/>
        </p:nvSpPr>
        <p:spPr>
          <a:xfrm>
            <a:off x="10991028" y="192464"/>
            <a:ext cx="948116" cy="104640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651" y="348530"/>
            <a:ext cx="759341" cy="7342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2947" y="6600105"/>
            <a:ext cx="52758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Variable Display" pitchFamily="2" charset="0"/>
              </a:rPr>
              <a:t>DEPARTMENT OF COMPUTER SCIENCE AND ENGINEERING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838201" y="1238865"/>
            <a:ext cx="47686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E6AED5DE-E287-9246-71B6-CABC272AE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476588"/>
              </p:ext>
            </p:extLst>
          </p:nvPr>
        </p:nvGraphicFramePr>
        <p:xfrm>
          <a:off x="1533832" y="1516596"/>
          <a:ext cx="9279194" cy="4777578"/>
        </p:xfrm>
        <a:graphic>
          <a:graphicData uri="http://schemas.openxmlformats.org/drawingml/2006/table">
            <a:tbl>
              <a:tblPr/>
              <a:tblGrid>
                <a:gridCol w="2009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8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1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8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Impact on Attrition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8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Employee age (18–60)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High — younger employees (25–35) leave more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8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OverTime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Works overtime? Yes / No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Very High — #1 risk factor, 3x more likely to leave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8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MonthlyIncome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Monthly salary in USD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High — low salary strongly predicts attrition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8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JobSatisfaction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Satisfaction level 1–4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High — low satisfaction means higher risk of leaving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8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DistanceFromHome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Distance from office in km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Medium — farther = more commute stress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8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YearsAtCompany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Total years in company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Medium — new employees (0–2 years) leave most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8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Department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Sales / R&amp;D / HR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04040"/>
                          </a:solidFill>
                        </a:rPr>
                        <a:t>Medium — Sales has highest attrition rate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8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WorkLifeBalance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Work-life balance rating 1–4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Medium — poor balance increases attrition risk</a:t>
                      </a: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426" y="14023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</a:rPr>
              <a:t>Data Cleaning</a:t>
            </a:r>
            <a:endParaRPr lang="en-US" sz="4800" b="1" dirty="0">
              <a:solidFill>
                <a:schemeClr val="accent1">
                  <a:lumMod val="5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" y="1238865"/>
            <a:ext cx="1061884" cy="561913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ectangle 47"/>
          <p:cNvSpPr/>
          <p:nvPr/>
        </p:nvSpPr>
        <p:spPr>
          <a:xfrm>
            <a:off x="0" y="6590273"/>
            <a:ext cx="12192000" cy="26772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TextBox 49"/>
          <p:cNvSpPr txBox="1"/>
          <p:nvPr/>
        </p:nvSpPr>
        <p:spPr>
          <a:xfrm>
            <a:off x="11543071" y="65394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51" name="Rectangle: Rounded Corners 50"/>
          <p:cNvSpPr/>
          <p:nvPr/>
        </p:nvSpPr>
        <p:spPr>
          <a:xfrm>
            <a:off x="10991028" y="192464"/>
            <a:ext cx="948116" cy="104640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651" y="348530"/>
            <a:ext cx="759341" cy="7342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2947" y="6600105"/>
            <a:ext cx="52758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Variable Display" pitchFamily="2" charset="0"/>
              </a:rPr>
              <a:t>DEPARTMENT OF COMPUTER SCIENCE AND ENGINEERING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838201" y="1238865"/>
            <a:ext cx="47686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hape 3">
            <a:extLst>
              <a:ext uri="{FF2B5EF4-FFF2-40B4-BE49-F238E27FC236}">
                <a16:creationId xmlns:a16="http://schemas.microsoft.com/office/drawing/2014/main" id="{4EEB0DF8-8E93-B922-D4DF-B6C5289CCB88}"/>
              </a:ext>
            </a:extLst>
          </p:cNvPr>
          <p:cNvSpPr/>
          <p:nvPr/>
        </p:nvSpPr>
        <p:spPr>
          <a:xfrm>
            <a:off x="1730477" y="2143746"/>
            <a:ext cx="4496293" cy="685800"/>
          </a:xfrm>
          <a:prstGeom prst="rect">
            <a:avLst/>
          </a:prstGeom>
          <a:solidFill>
            <a:srgbClr val="FFF0F0"/>
          </a:solidFill>
          <a:ln w="12700">
            <a:solidFill>
              <a:srgbClr val="F4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E12D835D-FBC0-377A-1AE3-F8875FDA0DB5}"/>
              </a:ext>
            </a:extLst>
          </p:cNvPr>
          <p:cNvSpPr/>
          <p:nvPr/>
        </p:nvSpPr>
        <p:spPr>
          <a:xfrm>
            <a:off x="1889776" y="2171178"/>
            <a:ext cx="419983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EmployeeCount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5AB5686-2E85-98F5-4B63-765C2C564667}"/>
              </a:ext>
            </a:extLst>
          </p:cNvPr>
          <p:cNvSpPr/>
          <p:nvPr/>
        </p:nvSpPr>
        <p:spPr>
          <a:xfrm>
            <a:off x="1889776" y="2418066"/>
            <a:ext cx="419983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value = 1 for every single row</a:t>
            </a:r>
            <a:endParaRPr lang="en-US" sz="11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E7E057E-2514-BE3B-7FDC-082B26BBA46E}"/>
              </a:ext>
            </a:extLst>
          </p:cNvPr>
          <p:cNvSpPr/>
          <p:nvPr/>
        </p:nvSpPr>
        <p:spPr>
          <a:xfrm>
            <a:off x="1730477" y="3081186"/>
            <a:ext cx="4512089" cy="685800"/>
          </a:xfrm>
          <a:prstGeom prst="rect">
            <a:avLst/>
          </a:prstGeom>
          <a:solidFill>
            <a:srgbClr val="FCE4EC"/>
          </a:solidFill>
          <a:ln w="12700">
            <a:solidFill>
              <a:srgbClr val="F4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CF5BE35-6A41-7D21-DA38-711FCE28AB87}"/>
              </a:ext>
            </a:extLst>
          </p:cNvPr>
          <p:cNvSpPr/>
          <p:nvPr/>
        </p:nvSpPr>
        <p:spPr>
          <a:xfrm>
            <a:off x="1890817" y="3108618"/>
            <a:ext cx="421458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StandardHours</a:t>
            </a:r>
            <a:endParaRPr lang="en-US" sz="13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75A62E22-C2B4-729C-37B5-9564AF2FFE81}"/>
              </a:ext>
            </a:extLst>
          </p:cNvPr>
          <p:cNvSpPr/>
          <p:nvPr/>
        </p:nvSpPr>
        <p:spPr>
          <a:xfrm>
            <a:off x="1890817" y="3355506"/>
            <a:ext cx="421458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value = 80 for every single row</a:t>
            </a:r>
            <a:endParaRPr lang="en-US" sz="11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FA900A50-B4DB-B562-49E2-A96C210FDF29}"/>
              </a:ext>
            </a:extLst>
          </p:cNvPr>
          <p:cNvSpPr/>
          <p:nvPr/>
        </p:nvSpPr>
        <p:spPr>
          <a:xfrm>
            <a:off x="1730477" y="4049884"/>
            <a:ext cx="4512089" cy="685800"/>
          </a:xfrm>
          <a:prstGeom prst="rect">
            <a:avLst/>
          </a:prstGeom>
          <a:solidFill>
            <a:srgbClr val="FFF0F0"/>
          </a:solidFill>
          <a:ln w="12700">
            <a:solidFill>
              <a:srgbClr val="F4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B3F92F57-4940-5CC3-CAF2-5FEFD65ABC42}"/>
              </a:ext>
            </a:extLst>
          </p:cNvPr>
          <p:cNvSpPr/>
          <p:nvPr/>
        </p:nvSpPr>
        <p:spPr>
          <a:xfrm>
            <a:off x="1890817" y="4077316"/>
            <a:ext cx="421458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Over18</a:t>
            </a:r>
            <a:endParaRPr lang="en-US" sz="13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E0649EB3-AD23-8602-9111-EE2D4BFCF2BE}"/>
              </a:ext>
            </a:extLst>
          </p:cNvPr>
          <p:cNvSpPr/>
          <p:nvPr/>
        </p:nvSpPr>
        <p:spPr>
          <a:xfrm>
            <a:off x="1890817" y="4324204"/>
            <a:ext cx="421458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value = 'Y' for every single row</a:t>
            </a:r>
            <a:endParaRPr lang="en-US" sz="11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151CA441-7517-7618-9C52-AF55CDCBAED3}"/>
              </a:ext>
            </a:extLst>
          </p:cNvPr>
          <p:cNvSpPr/>
          <p:nvPr/>
        </p:nvSpPr>
        <p:spPr>
          <a:xfrm>
            <a:off x="1730477" y="5004355"/>
            <a:ext cx="4512089" cy="685800"/>
          </a:xfrm>
          <a:prstGeom prst="rect">
            <a:avLst/>
          </a:prstGeom>
          <a:solidFill>
            <a:srgbClr val="FCE4EC"/>
          </a:solidFill>
          <a:ln w="12700">
            <a:solidFill>
              <a:srgbClr val="F4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DF8B17E0-C39A-7D81-AD62-0A26D9767C5A}"/>
              </a:ext>
            </a:extLst>
          </p:cNvPr>
          <p:cNvSpPr/>
          <p:nvPr/>
        </p:nvSpPr>
        <p:spPr>
          <a:xfrm>
            <a:off x="1890817" y="5031787"/>
            <a:ext cx="421458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EmployeeNumber</a:t>
            </a:r>
            <a:endParaRPr lang="en-US" sz="13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EF22DFA5-B1B1-C550-8BC2-AECE767EA193}"/>
              </a:ext>
            </a:extLst>
          </p:cNvPr>
          <p:cNvSpPr/>
          <p:nvPr/>
        </p:nvSpPr>
        <p:spPr>
          <a:xfrm>
            <a:off x="1890817" y="5278675"/>
            <a:ext cx="421458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an ID number — no pattern to learn</a:t>
            </a:r>
            <a:endParaRPr lang="en-US" sz="11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D88E2830-E33E-01B5-630E-D2484D76BF1D}"/>
              </a:ext>
            </a:extLst>
          </p:cNvPr>
          <p:cNvSpPr/>
          <p:nvPr/>
        </p:nvSpPr>
        <p:spPr>
          <a:xfrm>
            <a:off x="6416778" y="1877961"/>
            <a:ext cx="4396248" cy="45462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EFAC491-0F50-3075-793C-B1D626BC358F}"/>
              </a:ext>
            </a:extLst>
          </p:cNvPr>
          <p:cNvSpPr/>
          <p:nvPr/>
        </p:nvSpPr>
        <p:spPr>
          <a:xfrm>
            <a:off x="6508218" y="1990029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Code</a:t>
            </a:r>
            <a:endParaRPr lang="en-US" sz="12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9C212EFD-B1AC-62B0-B056-4A9F6143E0CA}"/>
              </a:ext>
            </a:extLst>
          </p:cNvPr>
          <p:cNvSpPr/>
          <p:nvPr/>
        </p:nvSpPr>
        <p:spPr>
          <a:xfrm>
            <a:off x="6416778" y="2282637"/>
            <a:ext cx="4396248" cy="241345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198A9D20-CE75-1854-F6F6-493AAEBB2224}"/>
              </a:ext>
            </a:extLst>
          </p:cNvPr>
          <p:cNvSpPr/>
          <p:nvPr/>
        </p:nvSpPr>
        <p:spPr>
          <a:xfrm>
            <a:off x="6553938" y="2337501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df.copy()
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Drop zero-value columns
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'EmployeeCount'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'StandardHours'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'Over18'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'EmployeeNumber'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
df_clean.drop(cols, axis=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inplace=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print(df_clean.shape)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(1470, 31)</a:t>
            </a:r>
            <a:endParaRPr lang="en-US" sz="105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4D440B92-68A4-BEC2-3E29-9770AD91974B}"/>
              </a:ext>
            </a:extLst>
          </p:cNvPr>
          <p:cNvSpPr/>
          <p:nvPr/>
        </p:nvSpPr>
        <p:spPr>
          <a:xfrm>
            <a:off x="6416778" y="4874419"/>
            <a:ext cx="4396248" cy="899009"/>
          </a:xfrm>
          <a:prstGeom prst="rect">
            <a:avLst/>
          </a:prstGeom>
          <a:solidFill>
            <a:srgbClr val="E2EFD9"/>
          </a:solidFill>
          <a:ln w="1905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D8AD8F75-B4D8-8B94-9D08-6A4ACC95E7BA}"/>
              </a:ext>
            </a:extLst>
          </p:cNvPr>
          <p:cNvSpPr/>
          <p:nvPr/>
        </p:nvSpPr>
        <p:spPr>
          <a:xfrm>
            <a:off x="6535649" y="4920139"/>
            <a:ext cx="4103165" cy="3457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1,470 rows × 35 columns</a:t>
            </a:r>
            <a:endParaRPr lang="en-US" sz="12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BE5BE33E-AD89-89CD-6B99-067F8A9B963C}"/>
              </a:ext>
            </a:extLst>
          </p:cNvPr>
          <p:cNvSpPr/>
          <p:nvPr/>
        </p:nvSpPr>
        <p:spPr>
          <a:xfrm>
            <a:off x="6535649" y="5203603"/>
            <a:ext cx="4103165" cy="3457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 1,470 rows × 31 columns  ✓</a:t>
            </a:r>
            <a:endParaRPr lang="en-US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6BA711-54D6-50D4-AD16-34E5C0BC2CD1}"/>
              </a:ext>
            </a:extLst>
          </p:cNvPr>
          <p:cNvSpPr txBox="1"/>
          <p:nvPr/>
        </p:nvSpPr>
        <p:spPr>
          <a:xfrm>
            <a:off x="1730477" y="1465793"/>
            <a:ext cx="4512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Dropped — Zero Predictive Value</a:t>
            </a:r>
            <a:endParaRPr lang="en-US" sz="18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F81A51-E744-8110-98F6-90D013F77A3D}"/>
              </a:ext>
            </a:extLst>
          </p:cNvPr>
          <p:cNvSpPr txBox="1"/>
          <p:nvPr/>
        </p:nvSpPr>
        <p:spPr>
          <a:xfrm>
            <a:off x="6416778" y="1470709"/>
            <a:ext cx="4396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Code from Notebook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426" y="14023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</a:rPr>
              <a:t>Exploratory Data Analysis (EDA)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1238865"/>
            <a:ext cx="1061884" cy="561913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ectangle 47"/>
          <p:cNvSpPr/>
          <p:nvPr/>
        </p:nvSpPr>
        <p:spPr>
          <a:xfrm>
            <a:off x="0" y="6590273"/>
            <a:ext cx="12192000" cy="26772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TextBox 49"/>
          <p:cNvSpPr txBox="1"/>
          <p:nvPr/>
        </p:nvSpPr>
        <p:spPr>
          <a:xfrm>
            <a:off x="11543071" y="65394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1" name="Rectangle: Rounded Corners 50"/>
          <p:cNvSpPr/>
          <p:nvPr/>
        </p:nvSpPr>
        <p:spPr>
          <a:xfrm>
            <a:off x="10991028" y="192464"/>
            <a:ext cx="948116" cy="104640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651" y="348530"/>
            <a:ext cx="759341" cy="7342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2947" y="6600105"/>
            <a:ext cx="52758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Variable Display" pitchFamily="2" charset="0"/>
              </a:rPr>
              <a:t>DEPARTMENT OF COMPUTER SCIENCE AND ENGINEERING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838201" y="1238865"/>
            <a:ext cx="47686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684" y="1394931"/>
            <a:ext cx="7603053" cy="510000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just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Lucida Bright" panose="02040602050505020304" pitchFamily="18" charset="0"/>
              </a:rPr>
              <a:t>OverTime:</a:t>
            </a:r>
            <a:r>
              <a:rPr lang="en-US" sz="1800" dirty="0">
                <a:latin typeface="Lucida Bright" panose="02040602050505020304" pitchFamily="18" charset="0"/>
              </a:rPr>
              <a:t> Overtime employees leave 3x more — identified as the single biggest risk factor in the dataset via correlation analysis.</a:t>
            </a:r>
          </a:p>
          <a:p>
            <a:pPr algn="just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Lucida Bright" panose="02040602050505020304" pitchFamily="18" charset="0"/>
              </a:rPr>
              <a:t>Low Monthly Income:</a:t>
            </a:r>
            <a:r>
              <a:rPr lang="en-US" sz="1800" dirty="0">
                <a:latin typeface="Lucida Bright" panose="02040602050505020304" pitchFamily="18" charset="0"/>
              </a:rPr>
              <a:t> Income below $3,000/month = highest attrition rate. Underpaid employees actively seek better opportunities elsewhere.</a:t>
            </a:r>
          </a:p>
          <a:p>
            <a:pPr algn="just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Lucida Bright" panose="02040602050505020304" pitchFamily="18" charset="0"/>
              </a:rPr>
              <a:t>Young Employees (Age 18-35):</a:t>
            </a:r>
            <a:r>
              <a:rPr lang="en-US" sz="1800" dirty="0">
                <a:latin typeface="Lucida Bright" panose="02040602050505020304" pitchFamily="18" charset="0"/>
              </a:rPr>
              <a:t> Leave most often — higher career ambition, more job options, and less company loyalty. Single employees aged 18-25 form the highest-risk group.</a:t>
            </a:r>
          </a:p>
          <a:p>
            <a:pPr algn="just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Lucida Bright" panose="02040602050505020304" pitchFamily="18" charset="0"/>
              </a:rPr>
              <a:t>Sales Department:</a:t>
            </a:r>
            <a:r>
              <a:rPr lang="en-US" sz="1800" dirty="0">
                <a:latin typeface="Lucida Bright" panose="02040602050505020304" pitchFamily="18" charset="0"/>
              </a:rPr>
              <a:t> Highest attrition rate across all departments — high targets and work pressure leads to burnout and resignations.</a:t>
            </a:r>
          </a:p>
          <a:p>
            <a:pPr algn="just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Lucida Bright" panose="02040602050505020304" pitchFamily="18" charset="0"/>
              </a:rPr>
              <a:t>New Employees (0-2 Years):</a:t>
            </a:r>
            <a:r>
              <a:rPr lang="en-US" sz="1800" dirty="0">
                <a:latin typeface="Lucida Bright" panose="02040602050505020304" pitchFamily="18" charset="0"/>
              </a:rPr>
              <a:t> Most vulnerable period — employees still exploring other job options and have not built strong organizational commitment.</a:t>
            </a:r>
          </a:p>
          <a:p>
            <a:pPr algn="just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Lucida Bright" panose="02040602050505020304" pitchFamily="18" charset="0"/>
              </a:rPr>
              <a:t>Distance from Home:</a:t>
            </a:r>
            <a:r>
              <a:rPr lang="en-US" sz="1800" dirty="0">
                <a:latin typeface="Lucida Bright" panose="02040602050505020304" pitchFamily="18" charset="0"/>
              </a:rPr>
              <a:t> Employees living more than 20 km from office face significantly higher attrition — daily commute fatigue impacts job satisfaction and retention.</a:t>
            </a:r>
          </a:p>
        </p:txBody>
      </p:sp>
      <p:graphicFrame>
        <p:nvGraphicFramePr>
          <p:cNvPr id="8" name="Chart 0">
            <a:extLst>
              <a:ext uri="{FF2B5EF4-FFF2-40B4-BE49-F238E27FC236}">
                <a16:creationId xmlns:a16="http://schemas.microsoft.com/office/drawing/2014/main" id="{959F428B-C4C8-528D-9A14-F07648621C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0012571"/>
              </p:ext>
            </p:extLst>
          </p:nvPr>
        </p:nvGraphicFramePr>
        <p:xfrm>
          <a:off x="8837900" y="1394931"/>
          <a:ext cx="2926080" cy="1860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F0CD56BE-5899-B68E-1295-6E1C4983FE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2412560"/>
              </p:ext>
            </p:extLst>
          </p:nvPr>
        </p:nvGraphicFramePr>
        <p:xfrm>
          <a:off x="8662736" y="3490694"/>
          <a:ext cx="3276407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856" y="207338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</a:rPr>
              <a:t>Machine Learning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1238865"/>
            <a:ext cx="1061884" cy="561913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ectangle 47"/>
          <p:cNvSpPr/>
          <p:nvPr/>
        </p:nvSpPr>
        <p:spPr>
          <a:xfrm>
            <a:off x="0" y="6590273"/>
            <a:ext cx="12192000" cy="26772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TextBox 49"/>
          <p:cNvSpPr txBox="1"/>
          <p:nvPr/>
        </p:nvSpPr>
        <p:spPr>
          <a:xfrm flipV="1">
            <a:off x="11543070" y="6294170"/>
            <a:ext cx="396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51" name="Rectangle: Rounded Corners 50"/>
          <p:cNvSpPr/>
          <p:nvPr/>
        </p:nvSpPr>
        <p:spPr>
          <a:xfrm>
            <a:off x="10991028" y="192464"/>
            <a:ext cx="948116" cy="104640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651" y="348530"/>
            <a:ext cx="759341" cy="7342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2947" y="6600105"/>
            <a:ext cx="52758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Variable Display" pitchFamily="2" charset="0"/>
              </a:rPr>
              <a:t>DEPARTMENT OF COMPUTER SCIENCE AND ENGINEERING</a:t>
            </a:r>
          </a:p>
        </p:txBody>
      </p:sp>
      <p:sp>
        <p:nvSpPr>
          <p:cNvPr id="90" name="Shape 2">
            <a:extLst>
              <a:ext uri="{FF2B5EF4-FFF2-40B4-BE49-F238E27FC236}">
                <a16:creationId xmlns:a16="http://schemas.microsoft.com/office/drawing/2014/main" id="{DC04628D-A04C-5AD4-0128-321A1F9DE7B4}"/>
              </a:ext>
            </a:extLst>
          </p:cNvPr>
          <p:cNvSpPr/>
          <p:nvPr/>
        </p:nvSpPr>
        <p:spPr>
          <a:xfrm>
            <a:off x="1498598" y="1551189"/>
            <a:ext cx="8776110" cy="850392"/>
          </a:xfrm>
          <a:prstGeom prst="rect">
            <a:avLst/>
          </a:prstGeom>
          <a:solidFill>
            <a:srgbClr val="EBF3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3">
            <a:extLst>
              <a:ext uri="{FF2B5EF4-FFF2-40B4-BE49-F238E27FC236}">
                <a16:creationId xmlns:a16="http://schemas.microsoft.com/office/drawing/2014/main" id="{FD43AE78-FDD6-433F-0358-D154CF4DC974}"/>
              </a:ext>
            </a:extLst>
          </p:cNvPr>
          <p:cNvSpPr/>
          <p:nvPr/>
        </p:nvSpPr>
        <p:spPr>
          <a:xfrm>
            <a:off x="1571750" y="1753112"/>
            <a:ext cx="400649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4">
            <a:extLst>
              <a:ext uri="{FF2B5EF4-FFF2-40B4-BE49-F238E27FC236}">
                <a16:creationId xmlns:a16="http://schemas.microsoft.com/office/drawing/2014/main" id="{4B852632-8740-DA74-E9A0-50B71078B4A2}"/>
              </a:ext>
            </a:extLst>
          </p:cNvPr>
          <p:cNvSpPr/>
          <p:nvPr/>
        </p:nvSpPr>
        <p:spPr>
          <a:xfrm>
            <a:off x="1571750" y="1753112"/>
            <a:ext cx="4006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3" name="Text 5">
            <a:extLst>
              <a:ext uri="{FF2B5EF4-FFF2-40B4-BE49-F238E27FC236}">
                <a16:creationId xmlns:a16="http://schemas.microsoft.com/office/drawing/2014/main" id="{2F742E7E-4666-1336-C626-47D4A2BA2E28}"/>
              </a:ext>
            </a:extLst>
          </p:cNvPr>
          <p:cNvSpPr/>
          <p:nvPr/>
        </p:nvSpPr>
        <p:spPr>
          <a:xfrm>
            <a:off x="2065526" y="1606808"/>
            <a:ext cx="476962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94" name="Text 6">
            <a:extLst>
              <a:ext uri="{FF2B5EF4-FFF2-40B4-BE49-F238E27FC236}">
                <a16:creationId xmlns:a16="http://schemas.microsoft.com/office/drawing/2014/main" id="{C547748F-C342-BDDE-8507-67E53F4F1120}"/>
              </a:ext>
            </a:extLst>
          </p:cNvPr>
          <p:cNvSpPr/>
          <p:nvPr/>
        </p:nvSpPr>
        <p:spPr>
          <a:xfrm>
            <a:off x="2065527" y="1881128"/>
            <a:ext cx="46265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model. Finds a linear boundary between 'Yes' and 'No'. Simple and interpretable. Uses StandardScaler for feature scaling.</a:t>
            </a:r>
            <a:endParaRPr lang="en-US" sz="1100" dirty="0"/>
          </a:p>
        </p:txBody>
      </p:sp>
      <p:sp>
        <p:nvSpPr>
          <p:cNvPr id="95" name="Shape 7">
            <a:extLst>
              <a:ext uri="{FF2B5EF4-FFF2-40B4-BE49-F238E27FC236}">
                <a16:creationId xmlns:a16="http://schemas.microsoft.com/office/drawing/2014/main" id="{5D2696F9-0494-D70C-FCBE-74C01D908F9F}"/>
              </a:ext>
            </a:extLst>
          </p:cNvPr>
          <p:cNvSpPr/>
          <p:nvPr/>
        </p:nvSpPr>
        <p:spPr>
          <a:xfrm>
            <a:off x="6710678" y="1661672"/>
            <a:ext cx="3195649" cy="65836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8">
            <a:extLst>
              <a:ext uri="{FF2B5EF4-FFF2-40B4-BE49-F238E27FC236}">
                <a16:creationId xmlns:a16="http://schemas.microsoft.com/office/drawing/2014/main" id="{3485500C-0A50-E03E-889C-5684E614B456}"/>
              </a:ext>
            </a:extLst>
          </p:cNvPr>
          <p:cNvSpPr/>
          <p:nvPr/>
        </p:nvSpPr>
        <p:spPr>
          <a:xfrm>
            <a:off x="6710678" y="1721108"/>
            <a:ext cx="30716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LogisticRegression(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max_iter=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random_state=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97" name="Shape 9">
            <a:extLst>
              <a:ext uri="{FF2B5EF4-FFF2-40B4-BE49-F238E27FC236}">
                <a16:creationId xmlns:a16="http://schemas.microsoft.com/office/drawing/2014/main" id="{44366396-7CA9-9ADF-5ED1-931B424C00DD}"/>
              </a:ext>
            </a:extLst>
          </p:cNvPr>
          <p:cNvSpPr/>
          <p:nvPr/>
        </p:nvSpPr>
        <p:spPr>
          <a:xfrm>
            <a:off x="1498598" y="2772753"/>
            <a:ext cx="8776110" cy="850392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10">
            <a:extLst>
              <a:ext uri="{FF2B5EF4-FFF2-40B4-BE49-F238E27FC236}">
                <a16:creationId xmlns:a16="http://schemas.microsoft.com/office/drawing/2014/main" id="{4F11FE0C-591B-DA0E-468D-F51CF0430FF4}"/>
              </a:ext>
            </a:extLst>
          </p:cNvPr>
          <p:cNvSpPr/>
          <p:nvPr/>
        </p:nvSpPr>
        <p:spPr>
          <a:xfrm>
            <a:off x="1571749" y="2955633"/>
            <a:ext cx="400649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11">
            <a:extLst>
              <a:ext uri="{FF2B5EF4-FFF2-40B4-BE49-F238E27FC236}">
                <a16:creationId xmlns:a16="http://schemas.microsoft.com/office/drawing/2014/main" id="{9EEA1466-8B35-1850-9022-013FF1C30D54}"/>
              </a:ext>
            </a:extLst>
          </p:cNvPr>
          <p:cNvSpPr/>
          <p:nvPr/>
        </p:nvSpPr>
        <p:spPr>
          <a:xfrm>
            <a:off x="1571749" y="2955633"/>
            <a:ext cx="4006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0" name="Text 12">
            <a:extLst>
              <a:ext uri="{FF2B5EF4-FFF2-40B4-BE49-F238E27FC236}">
                <a16:creationId xmlns:a16="http://schemas.microsoft.com/office/drawing/2014/main" id="{20854630-C7A9-8924-3AB1-8CA8DE9D7384}"/>
              </a:ext>
            </a:extLst>
          </p:cNvPr>
          <p:cNvSpPr/>
          <p:nvPr/>
        </p:nvSpPr>
        <p:spPr>
          <a:xfrm>
            <a:off x="2065525" y="2809329"/>
            <a:ext cx="476962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01" name="Text 13">
            <a:extLst>
              <a:ext uri="{FF2B5EF4-FFF2-40B4-BE49-F238E27FC236}">
                <a16:creationId xmlns:a16="http://schemas.microsoft.com/office/drawing/2014/main" id="{0D6D1C3E-96A4-1A3D-D386-A046845E3052}"/>
              </a:ext>
            </a:extLst>
          </p:cNvPr>
          <p:cNvSpPr/>
          <p:nvPr/>
        </p:nvSpPr>
        <p:spPr>
          <a:xfrm>
            <a:off x="2065526" y="3083649"/>
            <a:ext cx="46265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tree of Yes/No questions. Easy to visualize. max_depth=5 prevents overfitting.</a:t>
            </a:r>
            <a:endParaRPr lang="en-US" sz="1100" dirty="0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14C41041-72E0-2667-A4A2-F5374505B7F6}"/>
              </a:ext>
            </a:extLst>
          </p:cNvPr>
          <p:cNvSpPr/>
          <p:nvPr/>
        </p:nvSpPr>
        <p:spPr>
          <a:xfrm>
            <a:off x="6710677" y="2864193"/>
            <a:ext cx="3195649" cy="65836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15">
            <a:extLst>
              <a:ext uri="{FF2B5EF4-FFF2-40B4-BE49-F238E27FC236}">
                <a16:creationId xmlns:a16="http://schemas.microsoft.com/office/drawing/2014/main" id="{69D8214D-A508-F61D-49FC-00D74BD6077E}"/>
              </a:ext>
            </a:extLst>
          </p:cNvPr>
          <p:cNvSpPr/>
          <p:nvPr/>
        </p:nvSpPr>
        <p:spPr>
          <a:xfrm>
            <a:off x="6783829" y="2900769"/>
            <a:ext cx="30716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DecisionTreeClassifier(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max_depth=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random_state=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104" name="Shape 16">
            <a:extLst>
              <a:ext uri="{FF2B5EF4-FFF2-40B4-BE49-F238E27FC236}">
                <a16:creationId xmlns:a16="http://schemas.microsoft.com/office/drawing/2014/main" id="{29420ABA-E6BC-EB9C-0F30-171FF6C60E82}"/>
              </a:ext>
            </a:extLst>
          </p:cNvPr>
          <p:cNvSpPr/>
          <p:nvPr/>
        </p:nvSpPr>
        <p:spPr>
          <a:xfrm>
            <a:off x="1498598" y="4032461"/>
            <a:ext cx="8776111" cy="850392"/>
          </a:xfrm>
          <a:prstGeom prst="rect">
            <a:avLst/>
          </a:prstGeom>
          <a:solidFill>
            <a:srgbClr val="E2EFD9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7">
            <a:extLst>
              <a:ext uri="{FF2B5EF4-FFF2-40B4-BE49-F238E27FC236}">
                <a16:creationId xmlns:a16="http://schemas.microsoft.com/office/drawing/2014/main" id="{575D29A1-3060-9CF3-0013-621EA2471262}"/>
              </a:ext>
            </a:extLst>
          </p:cNvPr>
          <p:cNvSpPr/>
          <p:nvPr/>
        </p:nvSpPr>
        <p:spPr>
          <a:xfrm>
            <a:off x="1571750" y="4215341"/>
            <a:ext cx="400649" cy="38404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Text 18">
            <a:extLst>
              <a:ext uri="{FF2B5EF4-FFF2-40B4-BE49-F238E27FC236}">
                <a16:creationId xmlns:a16="http://schemas.microsoft.com/office/drawing/2014/main" id="{B9E0AE86-6D6C-623E-0EEF-FCEAD3B707D9}"/>
              </a:ext>
            </a:extLst>
          </p:cNvPr>
          <p:cNvSpPr/>
          <p:nvPr/>
        </p:nvSpPr>
        <p:spPr>
          <a:xfrm>
            <a:off x="1571750" y="4215341"/>
            <a:ext cx="4006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7" name="Text 19">
            <a:extLst>
              <a:ext uri="{FF2B5EF4-FFF2-40B4-BE49-F238E27FC236}">
                <a16:creationId xmlns:a16="http://schemas.microsoft.com/office/drawing/2014/main" id="{686D35EF-ECE8-1D0A-A551-2C4C2D010029}"/>
              </a:ext>
            </a:extLst>
          </p:cNvPr>
          <p:cNvSpPr/>
          <p:nvPr/>
        </p:nvSpPr>
        <p:spPr>
          <a:xfrm>
            <a:off x="2065527" y="4069037"/>
            <a:ext cx="47696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← Best Model ✓</a:t>
            </a:r>
            <a:endParaRPr lang="en-US" sz="1300" dirty="0"/>
          </a:p>
        </p:txBody>
      </p:sp>
      <p:sp>
        <p:nvSpPr>
          <p:cNvPr id="108" name="Text 20">
            <a:extLst>
              <a:ext uri="{FF2B5EF4-FFF2-40B4-BE49-F238E27FC236}">
                <a16:creationId xmlns:a16="http://schemas.microsoft.com/office/drawing/2014/main" id="{DBD6BDB2-C60D-ADEE-2324-D96D381DB202}"/>
              </a:ext>
            </a:extLst>
          </p:cNvPr>
          <p:cNvSpPr/>
          <p:nvPr/>
        </p:nvSpPr>
        <p:spPr>
          <a:xfrm>
            <a:off x="2065526" y="4343357"/>
            <a:ext cx="4626537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500 Decision Trees. Each tree votes — majority wins. Handles non-linear patterns. Reduces overfitting.</a:t>
            </a:r>
            <a:endParaRPr lang="en-US" sz="1100" dirty="0"/>
          </a:p>
        </p:txBody>
      </p:sp>
      <p:sp>
        <p:nvSpPr>
          <p:cNvPr id="109" name="Shape 21">
            <a:extLst>
              <a:ext uri="{FF2B5EF4-FFF2-40B4-BE49-F238E27FC236}">
                <a16:creationId xmlns:a16="http://schemas.microsoft.com/office/drawing/2014/main" id="{2F269C73-F7C9-A3EA-29A3-57313581AD57}"/>
              </a:ext>
            </a:extLst>
          </p:cNvPr>
          <p:cNvSpPr/>
          <p:nvPr/>
        </p:nvSpPr>
        <p:spPr>
          <a:xfrm>
            <a:off x="6710678" y="4123901"/>
            <a:ext cx="3195649" cy="65836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Text 22">
            <a:extLst>
              <a:ext uri="{FF2B5EF4-FFF2-40B4-BE49-F238E27FC236}">
                <a16:creationId xmlns:a16="http://schemas.microsoft.com/office/drawing/2014/main" id="{F30E6738-6647-85A9-6E40-584B2CA73BB6}"/>
              </a:ext>
            </a:extLst>
          </p:cNvPr>
          <p:cNvSpPr/>
          <p:nvPr/>
        </p:nvSpPr>
        <p:spPr>
          <a:xfrm>
            <a:off x="6783830" y="4160477"/>
            <a:ext cx="30716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RandomForestClassifier(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n_estimators=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random_state=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111" name="Shape 23">
            <a:extLst>
              <a:ext uri="{FF2B5EF4-FFF2-40B4-BE49-F238E27FC236}">
                <a16:creationId xmlns:a16="http://schemas.microsoft.com/office/drawing/2014/main" id="{4FCB44F3-DED1-7EBF-579E-2AC22A98B386}"/>
              </a:ext>
            </a:extLst>
          </p:cNvPr>
          <p:cNvSpPr/>
          <p:nvPr/>
        </p:nvSpPr>
        <p:spPr>
          <a:xfrm>
            <a:off x="1498599" y="5319601"/>
            <a:ext cx="8776111" cy="1046400"/>
          </a:xfrm>
          <a:prstGeom prst="rect">
            <a:avLst/>
          </a:prstGeom>
          <a:solidFill>
            <a:srgbClr val="EBF3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24">
            <a:extLst>
              <a:ext uri="{FF2B5EF4-FFF2-40B4-BE49-F238E27FC236}">
                <a16:creationId xmlns:a16="http://schemas.microsoft.com/office/drawing/2014/main" id="{C5238792-BCD9-7983-54AF-7EA518986F98}"/>
              </a:ext>
            </a:extLst>
          </p:cNvPr>
          <p:cNvSpPr/>
          <p:nvPr/>
        </p:nvSpPr>
        <p:spPr>
          <a:xfrm>
            <a:off x="1571751" y="5502481"/>
            <a:ext cx="400649" cy="472568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4CE4E4C1-7A7E-6BB1-0D53-F472C2F3EEF1}"/>
              </a:ext>
            </a:extLst>
          </p:cNvPr>
          <p:cNvSpPr/>
          <p:nvPr/>
        </p:nvSpPr>
        <p:spPr>
          <a:xfrm>
            <a:off x="1571751" y="5502481"/>
            <a:ext cx="400649" cy="472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4" name="Text 26">
            <a:extLst>
              <a:ext uri="{FF2B5EF4-FFF2-40B4-BE49-F238E27FC236}">
                <a16:creationId xmlns:a16="http://schemas.microsoft.com/office/drawing/2014/main" id="{904D161B-AC07-E378-9D19-3E32A9E715C0}"/>
              </a:ext>
            </a:extLst>
          </p:cNvPr>
          <p:cNvSpPr/>
          <p:nvPr/>
        </p:nvSpPr>
        <p:spPr>
          <a:xfrm>
            <a:off x="2065528" y="5356177"/>
            <a:ext cx="4769626" cy="3375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115" name="Text 27">
            <a:extLst>
              <a:ext uri="{FF2B5EF4-FFF2-40B4-BE49-F238E27FC236}">
                <a16:creationId xmlns:a16="http://schemas.microsoft.com/office/drawing/2014/main" id="{8710865A-3806-252A-BDD2-77E4AF80E11D}"/>
              </a:ext>
            </a:extLst>
          </p:cNvPr>
          <p:cNvSpPr/>
          <p:nvPr/>
        </p:nvSpPr>
        <p:spPr>
          <a:xfrm>
            <a:off x="2065527" y="5630497"/>
            <a:ext cx="4626536" cy="585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trees sequentially — each tree fixes errors of previous. Very accurate but computationally heavier.</a:t>
            </a:r>
            <a:endParaRPr lang="en-US" sz="1100" dirty="0"/>
          </a:p>
        </p:txBody>
      </p:sp>
      <p:sp>
        <p:nvSpPr>
          <p:cNvPr id="116" name="Shape 28">
            <a:extLst>
              <a:ext uri="{FF2B5EF4-FFF2-40B4-BE49-F238E27FC236}">
                <a16:creationId xmlns:a16="http://schemas.microsoft.com/office/drawing/2014/main" id="{4AE39A6B-7670-B59C-B621-EEA918FBA042}"/>
              </a:ext>
            </a:extLst>
          </p:cNvPr>
          <p:cNvSpPr/>
          <p:nvPr/>
        </p:nvSpPr>
        <p:spPr>
          <a:xfrm>
            <a:off x="6710679" y="5411041"/>
            <a:ext cx="3195649" cy="81011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29">
            <a:extLst>
              <a:ext uri="{FF2B5EF4-FFF2-40B4-BE49-F238E27FC236}">
                <a16:creationId xmlns:a16="http://schemas.microsoft.com/office/drawing/2014/main" id="{1F69CA94-F8A8-93E2-FF6F-81EB660CE29D}"/>
              </a:ext>
            </a:extLst>
          </p:cNvPr>
          <p:cNvSpPr/>
          <p:nvPr/>
        </p:nvSpPr>
        <p:spPr>
          <a:xfrm>
            <a:off x="6783830" y="5447617"/>
            <a:ext cx="3071639" cy="69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GradientBoostingClassifier(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n_estimators=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random_state=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9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8BC587CB-6316-B30B-8A25-C4C3D4694CA1}"/>
              </a:ext>
            </a:extLst>
          </p:cNvPr>
          <p:cNvCxnSpPr/>
          <p:nvPr/>
        </p:nvCxnSpPr>
        <p:spPr>
          <a:xfrm>
            <a:off x="1053098" y="1258530"/>
            <a:ext cx="47686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107" y="241747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</a:rPr>
              <a:t>Python Implementation — Part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1238865"/>
            <a:ext cx="1061884" cy="561913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ectangle 47"/>
          <p:cNvSpPr/>
          <p:nvPr/>
        </p:nvSpPr>
        <p:spPr>
          <a:xfrm>
            <a:off x="0" y="6590273"/>
            <a:ext cx="12192000" cy="26772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TextBox 49"/>
          <p:cNvSpPr txBox="1"/>
          <p:nvPr/>
        </p:nvSpPr>
        <p:spPr>
          <a:xfrm>
            <a:off x="11543071" y="65394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51" name="Rectangle: Rounded Corners 50"/>
          <p:cNvSpPr/>
          <p:nvPr/>
        </p:nvSpPr>
        <p:spPr>
          <a:xfrm>
            <a:off x="10991028" y="192464"/>
            <a:ext cx="948116" cy="104640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651" y="348530"/>
            <a:ext cx="759341" cy="7342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2947" y="6600105"/>
            <a:ext cx="52758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Variable Display" pitchFamily="2" charset="0"/>
              </a:rPr>
              <a:t>DEPARTMENT OF COMPUTER SCIENCE AND ENGINEERING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1762434" y="1670457"/>
            <a:ext cx="52748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hape 2">
            <a:extLst>
              <a:ext uri="{FF2B5EF4-FFF2-40B4-BE49-F238E27FC236}">
                <a16:creationId xmlns:a16="http://schemas.microsoft.com/office/drawing/2014/main" id="{C5B7A176-3758-1470-2826-EC3813D19235}"/>
              </a:ext>
            </a:extLst>
          </p:cNvPr>
          <p:cNvSpPr/>
          <p:nvPr/>
        </p:nvSpPr>
        <p:spPr>
          <a:xfrm>
            <a:off x="1289993" y="1310493"/>
            <a:ext cx="9305488" cy="315905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43EBAF5C-85B9-27A5-7412-C3286B694491}"/>
              </a:ext>
            </a:extLst>
          </p:cNvPr>
          <p:cNvSpPr/>
          <p:nvPr/>
        </p:nvSpPr>
        <p:spPr>
          <a:xfrm>
            <a:off x="1381433" y="1318559"/>
            <a:ext cx="9204342" cy="315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—  Import Libraries</a:t>
            </a:r>
            <a:endParaRPr lang="en-US" sz="12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8E0F1267-31A2-4519-080B-9CB8EAFE8A6C}"/>
              </a:ext>
            </a:extLst>
          </p:cNvPr>
          <p:cNvSpPr/>
          <p:nvPr/>
        </p:nvSpPr>
        <p:spPr>
          <a:xfrm>
            <a:off x="1289993" y="1630832"/>
            <a:ext cx="9305488" cy="1135284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18A89E8-5096-01A9-5C5F-66F0C7B8FE1A}"/>
              </a:ext>
            </a:extLst>
          </p:cNvPr>
          <p:cNvSpPr/>
          <p:nvPr/>
        </p:nvSpPr>
        <p:spPr>
          <a:xfrm>
            <a:off x="1427152" y="1666031"/>
            <a:ext cx="9103195" cy="10365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pd;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numpy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np
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sklearn.ensemble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RandomForestClassifier, GradientBoostingClassifier
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sklearn.linear_model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LogisticRegression
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sklearn.tree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DecisionTreeClassifier
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sklearn.preprocessing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LabelEncoder, StandardScaler
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sklearn.metrics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roc_auc_score, accuracy_score, confusion_matrix</a:t>
            </a:r>
            <a:endParaRPr lang="en-US" sz="105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1B298C54-1826-AE63-2526-2D66ADB79868}"/>
              </a:ext>
            </a:extLst>
          </p:cNvPr>
          <p:cNvSpPr/>
          <p:nvPr/>
        </p:nvSpPr>
        <p:spPr>
          <a:xfrm>
            <a:off x="1289993" y="3034834"/>
            <a:ext cx="9362144" cy="409113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6E19B7E4-116B-1318-4967-12094BE4BFA9}"/>
              </a:ext>
            </a:extLst>
          </p:cNvPr>
          <p:cNvSpPr/>
          <p:nvPr/>
        </p:nvSpPr>
        <p:spPr>
          <a:xfrm>
            <a:off x="1381433" y="3064330"/>
            <a:ext cx="9260382" cy="409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—  Load Data &amp; Clean</a:t>
            </a:r>
            <a:endParaRPr lang="en-US" sz="12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496820CC-6824-114E-11DD-9CF1DB0DA9A7}"/>
              </a:ext>
            </a:extLst>
          </p:cNvPr>
          <p:cNvSpPr/>
          <p:nvPr/>
        </p:nvSpPr>
        <p:spPr>
          <a:xfrm>
            <a:off x="1289993" y="3356939"/>
            <a:ext cx="9362144" cy="1508604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3629F880-E473-4746-52AD-9E07288D2151}"/>
              </a:ext>
            </a:extLst>
          </p:cNvPr>
          <p:cNvSpPr/>
          <p:nvPr/>
        </p:nvSpPr>
        <p:spPr>
          <a:xfrm>
            <a:off x="1427153" y="3411802"/>
            <a:ext cx="9158620" cy="13807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"data/HR-Employee-Attrition.csv"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Drop 4 useless columns — same value for ALL rows
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df.drop([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'EmployeeCount'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'StandardHours'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'Over18'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'EmployeeNumber'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axis=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inplace=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Encode categorical (text) columns → numbers
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= LabelEncoder()
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df.select_dtypes(include=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'object'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).columns:
    df[col] = le.fit_transform(df[col])</a:t>
            </a:r>
            <a:endParaRPr lang="en-US" sz="105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FE31EAB7-83C3-B285-1C7B-E65288768153}"/>
              </a:ext>
            </a:extLst>
          </p:cNvPr>
          <p:cNvSpPr/>
          <p:nvPr/>
        </p:nvSpPr>
        <p:spPr>
          <a:xfrm>
            <a:off x="1289991" y="5023631"/>
            <a:ext cx="9362144" cy="5007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470A2BDD-2EA8-1B3A-B516-F945265A403B}"/>
              </a:ext>
            </a:extLst>
          </p:cNvPr>
          <p:cNvSpPr/>
          <p:nvPr/>
        </p:nvSpPr>
        <p:spPr>
          <a:xfrm>
            <a:off x="1381432" y="5084138"/>
            <a:ext cx="9204340" cy="500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—  Feature/Target Split + Train-Test Split</a:t>
            </a:r>
            <a:endParaRPr lang="en-US" sz="12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5138EC2D-03D3-FD68-D4D4-F016A4074047}"/>
              </a:ext>
            </a:extLst>
          </p:cNvPr>
          <p:cNvSpPr/>
          <p:nvPr/>
        </p:nvSpPr>
        <p:spPr>
          <a:xfrm>
            <a:off x="1289991" y="5438296"/>
            <a:ext cx="9362144" cy="1126575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2E414EE6-5E46-BDFF-083C-60EDC405FF52}"/>
              </a:ext>
            </a:extLst>
          </p:cNvPr>
          <p:cNvSpPr/>
          <p:nvPr/>
        </p:nvSpPr>
        <p:spPr>
          <a:xfrm>
            <a:off x="1427151" y="5431609"/>
            <a:ext cx="9103193" cy="9701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df.drop(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'Attrition'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axis=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 features
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'Attrition'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                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Target column
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train_test_split(X, y, test_size=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random_state=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stratify=y)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856" y="192464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</a:rPr>
              <a:t>Python Implementation — Part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1238865"/>
            <a:ext cx="1061884" cy="561913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ectangle 47"/>
          <p:cNvSpPr/>
          <p:nvPr/>
        </p:nvSpPr>
        <p:spPr>
          <a:xfrm>
            <a:off x="0" y="6590273"/>
            <a:ext cx="12192000" cy="26772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TextBox 49"/>
          <p:cNvSpPr txBox="1"/>
          <p:nvPr/>
        </p:nvSpPr>
        <p:spPr>
          <a:xfrm>
            <a:off x="11543071" y="65394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51" name="Rectangle: Rounded Corners 50"/>
          <p:cNvSpPr/>
          <p:nvPr/>
        </p:nvSpPr>
        <p:spPr>
          <a:xfrm>
            <a:off x="10991028" y="192464"/>
            <a:ext cx="948116" cy="104640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651" y="348530"/>
            <a:ext cx="759341" cy="7342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2947" y="6600105"/>
            <a:ext cx="52758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Variable Display" pitchFamily="2" charset="0"/>
              </a:rPr>
              <a:t>DEPARTMENT OF COMPUTER SCIENCE AND ENGINEERING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980768" y="1238865"/>
            <a:ext cx="47686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hape 2">
            <a:extLst>
              <a:ext uri="{FF2B5EF4-FFF2-40B4-BE49-F238E27FC236}">
                <a16:creationId xmlns:a16="http://schemas.microsoft.com/office/drawing/2014/main" id="{FE3368D0-6514-DD93-0772-71FAF1043DB0}"/>
              </a:ext>
            </a:extLst>
          </p:cNvPr>
          <p:cNvSpPr/>
          <p:nvPr/>
        </p:nvSpPr>
        <p:spPr>
          <a:xfrm>
            <a:off x="1289992" y="1455144"/>
            <a:ext cx="9386964" cy="275847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E6883851-F14C-84B7-8369-76A53FF692FD}"/>
              </a:ext>
            </a:extLst>
          </p:cNvPr>
          <p:cNvSpPr/>
          <p:nvPr/>
        </p:nvSpPr>
        <p:spPr>
          <a:xfrm>
            <a:off x="1381432" y="1455144"/>
            <a:ext cx="9284932" cy="275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—  Train All 4 Models &amp; Evaluate</a:t>
            </a:r>
            <a:endParaRPr lang="en-US" sz="12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7B692D99-E74B-2435-67DE-713825F3B1E2}"/>
              </a:ext>
            </a:extLst>
          </p:cNvPr>
          <p:cNvSpPr/>
          <p:nvPr/>
        </p:nvSpPr>
        <p:spPr>
          <a:xfrm>
            <a:off x="1289992" y="1747752"/>
            <a:ext cx="9386964" cy="1853347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37C389A-F41A-1EF9-6D4F-0C375192E4BB}"/>
              </a:ext>
            </a:extLst>
          </p:cNvPr>
          <p:cNvSpPr/>
          <p:nvPr/>
        </p:nvSpPr>
        <p:spPr>
          <a:xfrm>
            <a:off x="1427152" y="1802616"/>
            <a:ext cx="9182900" cy="17671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 = {
    'Logistic Regression' : LogisticRegression(max_iter=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random_state=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
    'Decision Tree'       : DecisionTreeClassifier(max_depth=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random_state=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
    'Random Forest'       : RandomForestClassifier(n_estimators=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random_state=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
    'Gradient Boosting'   : GradientBoostingClassifier(n_estimators=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random_state=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}
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name, clf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models.items():
    clf.fit(X_train, y_train)          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 the model
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y_pred = clf.predict(X_test)         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Predict on test set
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y_prob = clf.predict_proba(X_test)[:,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Probability score
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auc    = roc_auc_score(y_test, y_prob)</a:t>
            </a:r>
            <a:endParaRPr lang="en-US" sz="105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23542792-15B9-8D45-EF14-BE1F80086562}"/>
              </a:ext>
            </a:extLst>
          </p:cNvPr>
          <p:cNvSpPr/>
          <p:nvPr/>
        </p:nvSpPr>
        <p:spPr>
          <a:xfrm>
            <a:off x="1289991" y="3768575"/>
            <a:ext cx="9397673" cy="459465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7DEACA46-2AC4-C52F-4251-9865A9360FC5}"/>
              </a:ext>
            </a:extLst>
          </p:cNvPr>
          <p:cNvSpPr/>
          <p:nvPr/>
        </p:nvSpPr>
        <p:spPr>
          <a:xfrm>
            <a:off x="1381432" y="3768575"/>
            <a:ext cx="9295524" cy="459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—  Compute All Metrics</a:t>
            </a:r>
            <a:endParaRPr lang="en-US" sz="12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541915A3-7D4F-DC25-882E-AE8E0DB6DCC3}"/>
              </a:ext>
            </a:extLst>
          </p:cNvPr>
          <p:cNvSpPr/>
          <p:nvPr/>
        </p:nvSpPr>
        <p:spPr>
          <a:xfrm>
            <a:off x="1289991" y="4061183"/>
            <a:ext cx="9397673" cy="1464545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AAED1106-09BA-B196-D69C-02803A95C994}"/>
              </a:ext>
            </a:extLst>
          </p:cNvPr>
          <p:cNvSpPr/>
          <p:nvPr/>
        </p:nvSpPr>
        <p:spPr>
          <a:xfrm>
            <a:off x="1427152" y="4116048"/>
            <a:ext cx="9193376" cy="13209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results[name] = {
    'Accuracy'  : accuracy_score(y_test, y_pred)  *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    'Precision' : precision_score(y_test, y_pred) *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    'Recall'    : recall_score(y_test, y_pred)    *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    'F1 Score'  : f1_score(y_test, y_pred)        *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    'AUC Score' : roc_auc_score(y_test, y_prob)   *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426" y="14023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</a:rPr>
              <a:t>Streamlit Dashboard — 4 Pages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1238865"/>
            <a:ext cx="1061884" cy="561913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ectangle 47"/>
          <p:cNvSpPr/>
          <p:nvPr/>
        </p:nvSpPr>
        <p:spPr>
          <a:xfrm>
            <a:off x="0" y="6590273"/>
            <a:ext cx="12192000" cy="26772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TextBox 49"/>
          <p:cNvSpPr txBox="1"/>
          <p:nvPr/>
        </p:nvSpPr>
        <p:spPr>
          <a:xfrm>
            <a:off x="11543071" y="65394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11</a:t>
            </a:r>
          </a:p>
        </p:txBody>
      </p:sp>
      <p:sp>
        <p:nvSpPr>
          <p:cNvPr id="51" name="Rectangle: Rounded Corners 50"/>
          <p:cNvSpPr/>
          <p:nvPr/>
        </p:nvSpPr>
        <p:spPr>
          <a:xfrm>
            <a:off x="10991028" y="192464"/>
            <a:ext cx="948116" cy="104640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651" y="348530"/>
            <a:ext cx="759341" cy="7342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2947" y="6600105"/>
            <a:ext cx="52758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Variable Display" pitchFamily="2" charset="0"/>
              </a:rPr>
              <a:t>DEPARTMENT OF COMPUTER SCIENCE AND ENGINEERING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838201" y="1238865"/>
            <a:ext cx="47686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hape 2">
            <a:extLst>
              <a:ext uri="{FF2B5EF4-FFF2-40B4-BE49-F238E27FC236}">
                <a16:creationId xmlns:a16="http://schemas.microsoft.com/office/drawing/2014/main" id="{ABE929D8-D01B-D972-95B6-96A867584141}"/>
              </a:ext>
            </a:extLst>
          </p:cNvPr>
          <p:cNvSpPr/>
          <p:nvPr/>
        </p:nvSpPr>
        <p:spPr>
          <a:xfrm>
            <a:off x="2073378" y="1810512"/>
            <a:ext cx="2011680" cy="3703320"/>
          </a:xfrm>
          <a:prstGeom prst="rect">
            <a:avLst/>
          </a:prstGeom>
          <a:solidFill>
            <a:srgbClr val="EBF3FB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75039ECD-D6F1-B89C-C626-B6018A8C794B}"/>
              </a:ext>
            </a:extLst>
          </p:cNvPr>
          <p:cNvSpPr/>
          <p:nvPr/>
        </p:nvSpPr>
        <p:spPr>
          <a:xfrm>
            <a:off x="2073378" y="1874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6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4C961C8-D8FB-DF0E-EE03-22CBD5CB3FD4}"/>
              </a:ext>
            </a:extLst>
          </p:cNvPr>
          <p:cNvSpPr/>
          <p:nvPr/>
        </p:nvSpPr>
        <p:spPr>
          <a:xfrm>
            <a:off x="2119098" y="234086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Overview</a:t>
            </a:r>
            <a:endParaRPr lang="en-US" sz="115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91923FA0-2207-6BAE-DB93-DA589747369A}"/>
              </a:ext>
            </a:extLst>
          </p:cNvPr>
          <p:cNvSpPr/>
          <p:nvPr/>
        </p:nvSpPr>
        <p:spPr>
          <a:xfrm>
            <a:off x="2301978" y="2843784"/>
            <a:ext cx="1554480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C383DE7-6179-8EA5-8DA0-690CA9AD3BE6}"/>
              </a:ext>
            </a:extLst>
          </p:cNvPr>
          <p:cNvSpPr/>
          <p:nvPr/>
        </p:nvSpPr>
        <p:spPr>
          <a:xfrm>
            <a:off x="2137386" y="2916936"/>
            <a:ext cx="1883664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 (1,470), attrition rate (16.12%), avg income ($6,503). Interactive charts: Attrition by Department, Job Role, Business Travel.</a:t>
            </a:r>
            <a:endParaRPr lang="en-US" sz="11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2FC5209E-B604-B061-8D00-49757CEC691C}"/>
              </a:ext>
            </a:extLst>
          </p:cNvPr>
          <p:cNvSpPr/>
          <p:nvPr/>
        </p:nvSpPr>
        <p:spPr>
          <a:xfrm>
            <a:off x="4222218" y="1810512"/>
            <a:ext cx="2011680" cy="3703320"/>
          </a:xfrm>
          <a:prstGeom prst="rect">
            <a:avLst/>
          </a:prstGeom>
          <a:solidFill>
            <a:srgbClr val="DEEAF1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CB043F1D-63AB-6DFC-D836-71132877DB58}"/>
              </a:ext>
            </a:extLst>
          </p:cNvPr>
          <p:cNvSpPr/>
          <p:nvPr/>
        </p:nvSpPr>
        <p:spPr>
          <a:xfrm>
            <a:off x="4222218" y="1874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6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91808E5D-069E-3222-E3B3-EAF14B11913C}"/>
              </a:ext>
            </a:extLst>
          </p:cNvPr>
          <p:cNvSpPr/>
          <p:nvPr/>
        </p:nvSpPr>
        <p:spPr>
          <a:xfrm>
            <a:off x="4267938" y="234086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EDA</a:t>
            </a:r>
            <a:endParaRPr lang="en-US" sz="115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FFD90BEB-5376-4D6D-E2A1-BB14FBB5BD40}"/>
              </a:ext>
            </a:extLst>
          </p:cNvPr>
          <p:cNvSpPr/>
          <p:nvPr/>
        </p:nvSpPr>
        <p:spPr>
          <a:xfrm>
            <a:off x="4450818" y="2843784"/>
            <a:ext cx="1554480" cy="274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74A34BFC-127B-AF32-6272-E075F1B626D8}"/>
              </a:ext>
            </a:extLst>
          </p:cNvPr>
          <p:cNvSpPr/>
          <p:nvPr/>
        </p:nvSpPr>
        <p:spPr>
          <a:xfrm>
            <a:off x="4286226" y="2916936"/>
            <a:ext cx="1883664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distribution, Monthly Income vs Attrition, OverTime bar chart, Job Satisfaction analysis, full Correlation Heatmap, Raw data table.</a:t>
            </a:r>
            <a:endParaRPr lang="en-US" sz="11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538F4FEE-67B1-1A3A-3BD7-48993AD5D16F}"/>
              </a:ext>
            </a:extLst>
          </p:cNvPr>
          <p:cNvSpPr/>
          <p:nvPr/>
        </p:nvSpPr>
        <p:spPr>
          <a:xfrm>
            <a:off x="6371058" y="1810512"/>
            <a:ext cx="2011680" cy="3703320"/>
          </a:xfrm>
          <a:prstGeom prst="rect">
            <a:avLst/>
          </a:prstGeom>
          <a:solidFill>
            <a:srgbClr val="FFF2CC"/>
          </a:solidFill>
          <a:ln w="1905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65B330B0-4551-24D2-F095-E42554B15D82}"/>
              </a:ext>
            </a:extLst>
          </p:cNvPr>
          <p:cNvSpPr/>
          <p:nvPr/>
        </p:nvSpPr>
        <p:spPr>
          <a:xfrm>
            <a:off x="6371058" y="1874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6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433ECC97-EB9E-7343-3F7F-F28A8A9CD959}"/>
              </a:ext>
            </a:extLst>
          </p:cNvPr>
          <p:cNvSpPr/>
          <p:nvPr/>
        </p:nvSpPr>
        <p:spPr>
          <a:xfrm>
            <a:off x="6416778" y="2340864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Model Comparison</a:t>
            </a:r>
            <a:endParaRPr lang="en-US" sz="115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E2C78382-816B-F778-0E93-FD79BADA3335}"/>
              </a:ext>
            </a:extLst>
          </p:cNvPr>
          <p:cNvSpPr/>
          <p:nvPr/>
        </p:nvSpPr>
        <p:spPr>
          <a:xfrm>
            <a:off x="6599658" y="2843784"/>
            <a:ext cx="1554480" cy="2743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0D2E02D7-727E-A8C4-75EC-D720A5F97002}"/>
              </a:ext>
            </a:extLst>
          </p:cNvPr>
          <p:cNvSpPr/>
          <p:nvPr/>
        </p:nvSpPr>
        <p:spPr>
          <a:xfrm>
            <a:off x="6435066" y="2916936"/>
            <a:ext cx="1883664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models compared — Accuracy, Precision, Recall, F1, AUC table. Confusion matrices side-by-side. Feature Importance chart (Top 10).</a:t>
            </a:r>
            <a:endParaRPr lang="en-US" sz="110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3F3A019B-4111-25FB-B4FE-46B61104EC1B}"/>
              </a:ext>
            </a:extLst>
          </p:cNvPr>
          <p:cNvSpPr/>
          <p:nvPr/>
        </p:nvSpPr>
        <p:spPr>
          <a:xfrm>
            <a:off x="8519898" y="1810512"/>
            <a:ext cx="2011680" cy="3703320"/>
          </a:xfrm>
          <a:prstGeom prst="rect">
            <a:avLst/>
          </a:prstGeom>
          <a:solidFill>
            <a:srgbClr val="FCE4EC"/>
          </a:solidFill>
          <a:ln w="190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11CB5D48-E180-73C1-141C-7B7DFAE89DAB}"/>
              </a:ext>
            </a:extLst>
          </p:cNvPr>
          <p:cNvSpPr/>
          <p:nvPr/>
        </p:nvSpPr>
        <p:spPr>
          <a:xfrm>
            <a:off x="8519898" y="1874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6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4CC219AD-4307-9390-16C2-76B81C581C5F}"/>
              </a:ext>
            </a:extLst>
          </p:cNvPr>
          <p:cNvSpPr/>
          <p:nvPr/>
        </p:nvSpPr>
        <p:spPr>
          <a:xfrm>
            <a:off x="8565618" y="2340864"/>
            <a:ext cx="19140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Predict</a:t>
            </a:r>
            <a:endParaRPr lang="en-US" sz="1150" dirty="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0E1CE21C-1C71-8ADD-4766-0DB69130BB0F}"/>
              </a:ext>
            </a:extLst>
          </p:cNvPr>
          <p:cNvSpPr/>
          <p:nvPr/>
        </p:nvSpPr>
        <p:spPr>
          <a:xfrm>
            <a:off x="8748498" y="2843784"/>
            <a:ext cx="1549490" cy="274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758E1AFD-705F-E9D5-FB9B-ECBE928AE1B8}"/>
              </a:ext>
            </a:extLst>
          </p:cNvPr>
          <p:cNvSpPr/>
          <p:nvPr/>
        </p:nvSpPr>
        <p:spPr>
          <a:xfrm>
            <a:off x="8583906" y="2916936"/>
            <a:ext cx="1877617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enters employee details → Model predicts risk probability. Result: 🟢 Safe (&lt;30%) / 🟡 Watch (30–60%) / 🔴 Danger (&gt;60%) + Risk Factors shown.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A39F0-A927-58D8-0673-53F765155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891F3-F375-FA51-6461-856AE34A3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426" y="14023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</a:rPr>
              <a:t>Results &amp; Model Comparison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86A897-7EB4-6B7B-AA57-7FD6A560011F}"/>
              </a:ext>
            </a:extLst>
          </p:cNvPr>
          <p:cNvSpPr/>
          <p:nvPr/>
        </p:nvSpPr>
        <p:spPr>
          <a:xfrm>
            <a:off x="1" y="1238865"/>
            <a:ext cx="1061884" cy="561913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EAF787A-4A77-1184-7717-8269D30100F6}"/>
              </a:ext>
            </a:extLst>
          </p:cNvPr>
          <p:cNvSpPr/>
          <p:nvPr/>
        </p:nvSpPr>
        <p:spPr>
          <a:xfrm>
            <a:off x="0" y="6590273"/>
            <a:ext cx="12192000" cy="26772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8BAF6F-6E6C-9D4E-E8F5-0DD529B75EC5}"/>
              </a:ext>
            </a:extLst>
          </p:cNvPr>
          <p:cNvSpPr txBox="1"/>
          <p:nvPr/>
        </p:nvSpPr>
        <p:spPr>
          <a:xfrm>
            <a:off x="11543071" y="65394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3D2D983-B4EC-5802-B990-FA8F26480FD4}"/>
              </a:ext>
            </a:extLst>
          </p:cNvPr>
          <p:cNvSpPr/>
          <p:nvPr/>
        </p:nvSpPr>
        <p:spPr>
          <a:xfrm>
            <a:off x="10991028" y="192464"/>
            <a:ext cx="948116" cy="104640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D9125080-5146-3FF5-9C70-46465036E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651" y="348530"/>
            <a:ext cx="759341" cy="7342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41D81B-4217-7FAA-2288-28FAA0E6A670}"/>
              </a:ext>
            </a:extLst>
          </p:cNvPr>
          <p:cNvSpPr txBox="1"/>
          <p:nvPr/>
        </p:nvSpPr>
        <p:spPr>
          <a:xfrm>
            <a:off x="4282947" y="6600105"/>
            <a:ext cx="52758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Variable Display" pitchFamily="2" charset="0"/>
              </a:rPr>
              <a:t>DEPARTMENT OF COMPUTER SCIENCE AND ENGINEERING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A450406-9818-788C-FB33-E6B5A765E215}"/>
              </a:ext>
            </a:extLst>
          </p:cNvPr>
          <p:cNvCxnSpPr>
            <a:cxnSpLocks/>
          </p:cNvCxnSpPr>
          <p:nvPr/>
        </p:nvCxnSpPr>
        <p:spPr>
          <a:xfrm>
            <a:off x="2163589" y="2219474"/>
            <a:ext cx="52716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0B5433E0-8814-9318-5D1E-262B33E6F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02777"/>
              </p:ext>
            </p:extLst>
          </p:nvPr>
        </p:nvGraphicFramePr>
        <p:xfrm>
          <a:off x="1691148" y="1895008"/>
          <a:ext cx="9299878" cy="2856995"/>
        </p:xfrm>
        <a:graphic>
          <a:graphicData uri="http://schemas.openxmlformats.org/drawingml/2006/table">
            <a:tbl>
              <a:tblPr/>
              <a:tblGrid>
                <a:gridCol w="2476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4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4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4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46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46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3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 Score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AUC Score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3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86.39%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62.50%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35.89%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47.90%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84.38%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3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Decision Tree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78.31%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40.22%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39.53%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43.01%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67.69%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3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Random Forest  ✓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75623"/>
                          </a:solidFill>
                        </a:rPr>
                        <a:t>87.07%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75623"/>
                          </a:solidFill>
                        </a:rPr>
                        <a:t>80.00%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37.21%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49.38%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75623"/>
                          </a:solidFill>
                        </a:rPr>
                        <a:t>86.86%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3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Gradient Boosting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86.39%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66.67%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37.21%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47.76%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04040"/>
                          </a:solidFill>
                        </a:rPr>
                        <a:t>85.10%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2">
            <a:extLst>
              <a:ext uri="{FF2B5EF4-FFF2-40B4-BE49-F238E27FC236}">
                <a16:creationId xmlns:a16="http://schemas.microsoft.com/office/drawing/2014/main" id="{9122141A-A920-5C10-A8C8-E91FF3B3CCF3}"/>
              </a:ext>
            </a:extLst>
          </p:cNvPr>
          <p:cNvSpPr/>
          <p:nvPr/>
        </p:nvSpPr>
        <p:spPr>
          <a:xfrm>
            <a:off x="1691148" y="5048105"/>
            <a:ext cx="9299880" cy="1170432"/>
          </a:xfrm>
          <a:prstGeom prst="rect">
            <a:avLst/>
          </a:prstGeom>
          <a:solidFill>
            <a:srgbClr val="E2EFD9"/>
          </a:solidFill>
          <a:ln w="1905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CB627B36-DD56-AA31-E57F-EBD1B5C39DB4}"/>
              </a:ext>
            </a:extLst>
          </p:cNvPr>
          <p:cNvSpPr/>
          <p:nvPr/>
        </p:nvSpPr>
        <p:spPr>
          <a:xfrm>
            <a:off x="1861768" y="5084681"/>
            <a:ext cx="90977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Model: Random Forest Classifier</a:t>
            </a:r>
            <a:endParaRPr lang="en-US" sz="15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7A158C9D-9A4E-A40E-5B6E-A5538295265B}"/>
              </a:ext>
            </a:extLst>
          </p:cNvPr>
          <p:cNvSpPr/>
          <p:nvPr/>
        </p:nvSpPr>
        <p:spPr>
          <a:xfrm>
            <a:off x="1861768" y="5441297"/>
            <a:ext cx="90977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r>
              <a:rPr lang="en-US" sz="1200" b="1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86.86%   </a:t>
            </a: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Accuracy: 87.07%   |   Precision: 80.00%   |   </a:t>
            </a:r>
            <a:r>
              <a:rPr lang="en-US" sz="1200" b="1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12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Decision Trees voting together — highest overall performance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03177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17" y="268190"/>
            <a:ext cx="10515600" cy="119432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</a:rPr>
              <a:t>Key Findings from Data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1238865"/>
            <a:ext cx="1061884" cy="561913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ectangle 47"/>
          <p:cNvSpPr/>
          <p:nvPr/>
        </p:nvSpPr>
        <p:spPr>
          <a:xfrm>
            <a:off x="0" y="6590273"/>
            <a:ext cx="12192000" cy="26772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TextBox 49"/>
          <p:cNvSpPr txBox="1"/>
          <p:nvPr/>
        </p:nvSpPr>
        <p:spPr>
          <a:xfrm>
            <a:off x="11543071" y="65394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51" name="Rectangle: Rounded Corners 50"/>
          <p:cNvSpPr/>
          <p:nvPr/>
        </p:nvSpPr>
        <p:spPr>
          <a:xfrm>
            <a:off x="10991028" y="192464"/>
            <a:ext cx="948116" cy="104640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651" y="348530"/>
            <a:ext cx="759341" cy="7342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2947" y="6600105"/>
            <a:ext cx="52758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Variable Display" pitchFamily="2" charset="0"/>
              </a:rPr>
              <a:t>DEPARTMENT OF COMPUTER SCIENCE AND ENGINEERING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838201" y="1238865"/>
            <a:ext cx="47686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hape 2">
            <a:extLst>
              <a:ext uri="{FF2B5EF4-FFF2-40B4-BE49-F238E27FC236}">
                <a16:creationId xmlns:a16="http://schemas.microsoft.com/office/drawing/2014/main" id="{533BE247-CC71-7F92-4564-F13AA95956F9}"/>
              </a:ext>
            </a:extLst>
          </p:cNvPr>
          <p:cNvSpPr/>
          <p:nvPr/>
        </p:nvSpPr>
        <p:spPr>
          <a:xfrm>
            <a:off x="1355195" y="1702553"/>
            <a:ext cx="4530556" cy="1377198"/>
          </a:xfrm>
          <a:prstGeom prst="rect">
            <a:avLst/>
          </a:prstGeom>
          <a:solidFill>
            <a:srgbClr val="EBF3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7A6C60C9-2440-717A-CCC9-13A647D7BAFB}"/>
              </a:ext>
            </a:extLst>
          </p:cNvPr>
          <p:cNvSpPr/>
          <p:nvPr/>
        </p:nvSpPr>
        <p:spPr>
          <a:xfrm>
            <a:off x="1544918" y="1942047"/>
            <a:ext cx="4199400" cy="318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#1 OverTime</a:t>
            </a:r>
            <a:endParaRPr lang="en-US" sz="13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7D81A89-F120-2007-5B83-055AB553992D}"/>
              </a:ext>
            </a:extLst>
          </p:cNvPr>
          <p:cNvSpPr/>
          <p:nvPr/>
        </p:nvSpPr>
        <p:spPr>
          <a:xfrm>
            <a:off x="1544918" y="2262087"/>
            <a:ext cx="4199400" cy="6773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doing OverTime have 3× higher attrition — the single biggest risk factor identified in the dataset.</a:t>
            </a:r>
            <a:endParaRPr lang="en-US" sz="115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E9B3B008-B547-4B8D-3E12-87A4AA7DF63B}"/>
              </a:ext>
            </a:extLst>
          </p:cNvPr>
          <p:cNvSpPr/>
          <p:nvPr/>
        </p:nvSpPr>
        <p:spPr>
          <a:xfrm>
            <a:off x="1360047" y="3202868"/>
            <a:ext cx="4530556" cy="1370385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4BEE304-622A-0AE0-E77E-0182FBD3B6A5}"/>
              </a:ext>
            </a:extLst>
          </p:cNvPr>
          <p:cNvSpPr/>
          <p:nvPr/>
        </p:nvSpPr>
        <p:spPr>
          <a:xfrm>
            <a:off x="1469775" y="3285164"/>
            <a:ext cx="4281624" cy="359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#2 Low Income</a:t>
            </a:r>
            <a:endParaRPr lang="en-US" sz="13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1C82D91B-FBAF-9084-C843-5B3EE4F4D90B}"/>
              </a:ext>
            </a:extLst>
          </p:cNvPr>
          <p:cNvSpPr/>
          <p:nvPr/>
        </p:nvSpPr>
        <p:spPr>
          <a:xfrm>
            <a:off x="1469775" y="3605204"/>
            <a:ext cx="4281624" cy="7638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earning less than $3,000/month are most likely to leave — underpaid employees actively seek better opportunities.</a:t>
            </a:r>
            <a:endParaRPr lang="en-US" sz="115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DD3B5F69-6124-40C7-D67A-B9C82C26BA69}"/>
              </a:ext>
            </a:extLst>
          </p:cNvPr>
          <p:cNvSpPr/>
          <p:nvPr/>
        </p:nvSpPr>
        <p:spPr>
          <a:xfrm>
            <a:off x="1360047" y="4693340"/>
            <a:ext cx="4530556" cy="1342085"/>
          </a:xfrm>
          <a:prstGeom prst="rect">
            <a:avLst/>
          </a:prstGeom>
          <a:solidFill>
            <a:srgbClr val="EBF3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B7B04DF-18BA-8B43-6E68-0A9AA5E11152}"/>
              </a:ext>
            </a:extLst>
          </p:cNvPr>
          <p:cNvSpPr/>
          <p:nvPr/>
        </p:nvSpPr>
        <p:spPr>
          <a:xfrm>
            <a:off x="1469775" y="4775636"/>
            <a:ext cx="4281624" cy="3520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👶  #3 Young + Single</a:t>
            </a:r>
            <a:endParaRPr lang="en-US" sz="13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37B9CB32-1661-9774-9F0F-5B819A05CD3F}"/>
              </a:ext>
            </a:extLst>
          </p:cNvPr>
          <p:cNvSpPr/>
          <p:nvPr/>
        </p:nvSpPr>
        <p:spPr>
          <a:xfrm>
            <a:off x="1469775" y="5095676"/>
            <a:ext cx="4281624" cy="748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aged 18–25, single, with low salary form the highest-risk group — less company loyalty, more career ambition.</a:t>
            </a:r>
            <a:endParaRPr lang="en-US" sz="115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68E438A2-6EA8-99D8-8785-63BF2AB47F1B}"/>
              </a:ext>
            </a:extLst>
          </p:cNvPr>
          <p:cNvSpPr/>
          <p:nvPr/>
        </p:nvSpPr>
        <p:spPr>
          <a:xfrm>
            <a:off x="6000331" y="1698486"/>
            <a:ext cx="4495455" cy="1377198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88D946D4-AE46-580A-5FF6-E785948E9F75}"/>
              </a:ext>
            </a:extLst>
          </p:cNvPr>
          <p:cNvSpPr/>
          <p:nvPr/>
        </p:nvSpPr>
        <p:spPr>
          <a:xfrm>
            <a:off x="6110059" y="1780781"/>
            <a:ext cx="4248451" cy="361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#4 New Employees</a:t>
            </a:r>
            <a:endParaRPr lang="en-US" sz="13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DFAF69A8-4FFF-D6C7-C398-AEADE934661D}"/>
              </a:ext>
            </a:extLst>
          </p:cNvPr>
          <p:cNvSpPr/>
          <p:nvPr/>
        </p:nvSpPr>
        <p:spPr>
          <a:xfrm>
            <a:off x="6110059" y="2100822"/>
            <a:ext cx="4248451" cy="7676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1–2 years at company = most vulnerable period — employees still exploring other job options.</a:t>
            </a:r>
            <a:endParaRPr lang="en-US" sz="115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F14D8E68-C697-856D-AA19-EACB81FA89D6}"/>
              </a:ext>
            </a:extLst>
          </p:cNvPr>
          <p:cNvSpPr/>
          <p:nvPr/>
        </p:nvSpPr>
        <p:spPr>
          <a:xfrm>
            <a:off x="6000331" y="3189564"/>
            <a:ext cx="4495455" cy="1377198"/>
          </a:xfrm>
          <a:prstGeom prst="rect">
            <a:avLst/>
          </a:prstGeom>
          <a:solidFill>
            <a:srgbClr val="EBF3FB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3C16AB90-928A-B826-8611-279BE5F6DAF5}"/>
              </a:ext>
            </a:extLst>
          </p:cNvPr>
          <p:cNvSpPr/>
          <p:nvPr/>
        </p:nvSpPr>
        <p:spPr>
          <a:xfrm>
            <a:off x="6095841" y="3284915"/>
            <a:ext cx="4248452" cy="361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#5 Sales Dept</a:t>
            </a:r>
            <a:endParaRPr lang="en-US" sz="13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F0E781DD-5A6B-BB83-BE17-A27D1B89F059}"/>
              </a:ext>
            </a:extLst>
          </p:cNvPr>
          <p:cNvSpPr/>
          <p:nvPr/>
        </p:nvSpPr>
        <p:spPr>
          <a:xfrm>
            <a:off x="6095841" y="3604956"/>
            <a:ext cx="4248452" cy="7676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department has highest attrition — high targets and work pressure leads to burnout and resignations.</a:t>
            </a:r>
            <a:endParaRPr lang="en-US" sz="115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D7E2C745-BF3B-4B19-F4D1-D907BB7C89DA}"/>
              </a:ext>
            </a:extLst>
          </p:cNvPr>
          <p:cNvSpPr/>
          <p:nvPr/>
        </p:nvSpPr>
        <p:spPr>
          <a:xfrm>
            <a:off x="6000331" y="4693340"/>
            <a:ext cx="4530556" cy="1325564"/>
          </a:xfrm>
          <a:prstGeom prst="rect">
            <a:avLst/>
          </a:prstGeom>
          <a:solidFill>
            <a:srgbClr val="DEEAF1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79F58349-971E-025E-F09B-89E4D6A392E4}"/>
              </a:ext>
            </a:extLst>
          </p:cNvPr>
          <p:cNvSpPr/>
          <p:nvPr/>
        </p:nvSpPr>
        <p:spPr>
          <a:xfrm>
            <a:off x="6110060" y="4698348"/>
            <a:ext cx="4281624" cy="3476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#6 Distance</a:t>
            </a:r>
            <a:endParaRPr lang="en-US" sz="13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41FF7B37-DEBD-1FF1-B02F-92EEC1A8F29C}"/>
              </a:ext>
            </a:extLst>
          </p:cNvPr>
          <p:cNvSpPr/>
          <p:nvPr/>
        </p:nvSpPr>
        <p:spPr>
          <a:xfrm>
            <a:off x="6110060" y="5018389"/>
            <a:ext cx="4281624" cy="7388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living more than 20 km from office face significantly higher attrition — daily commute fatigue.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426" y="14023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</a:rPr>
              <a:t>Advantages &amp; Limitations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1238865"/>
            <a:ext cx="1061884" cy="561913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ectangle 47"/>
          <p:cNvSpPr/>
          <p:nvPr/>
        </p:nvSpPr>
        <p:spPr>
          <a:xfrm>
            <a:off x="0" y="6590273"/>
            <a:ext cx="12192000" cy="26772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TextBox 49"/>
          <p:cNvSpPr txBox="1"/>
          <p:nvPr/>
        </p:nvSpPr>
        <p:spPr>
          <a:xfrm>
            <a:off x="11543071" y="65394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51" name="Rectangle: Rounded Corners 50"/>
          <p:cNvSpPr/>
          <p:nvPr/>
        </p:nvSpPr>
        <p:spPr>
          <a:xfrm>
            <a:off x="10991028" y="192464"/>
            <a:ext cx="948116" cy="104640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651" y="348530"/>
            <a:ext cx="759341" cy="7342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2947" y="6600105"/>
            <a:ext cx="52758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Variable Display" pitchFamily="2" charset="0"/>
              </a:rPr>
              <a:t>DEPARTMENT OF COMPUTER SCIENCE AND ENGINEERING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838201" y="1238865"/>
            <a:ext cx="47686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684" y="1394931"/>
            <a:ext cx="10879459" cy="51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Lucida Bright" panose="02040602050505020304" pitchFamily="18" charset="0"/>
              </a:rPr>
              <a:t>ADVANTAGE: Real-time prediction — HR checks any employee's risk instantly via dashboard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Lucida Bright" panose="02040602050505020304" pitchFamily="18" charset="0"/>
              </a:rPr>
              <a:t>ADVANTAGE: 4 models compared — gives data-driven best-model recommendation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Lucida Bright" panose="02040602050505020304" pitchFamily="18" charset="0"/>
              </a:rPr>
              <a:t>ADVANTAGE: Feature Importance explains WHY an employee might leave — not just predicts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Lucida Bright" panose="02040602050505020304" pitchFamily="18" charset="0"/>
              </a:rPr>
              <a:t>ADVANTAGE: Interactive Streamlit dashboard — no coding knowledge needed for HR teams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Lucida Bright" panose="02040602050505020304" pitchFamily="18" charset="0"/>
              </a:rPr>
              <a:t>LIMITATION: Dataset imbalanced (83.9% No, 16.1% Yes) — model tends to predict No conservatively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Lucida Bright" panose="02040602050505020304" pitchFamily="18" charset="0"/>
              </a:rPr>
              <a:t>LIMITATION: Trained on IBM data only — may need retraining on company-specific real data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latin typeface="Lucida Bright" panose="02040602050505020304" pitchFamily="18" charset="0"/>
              </a:rPr>
              <a:t>LIMITATION: Random Forest is a black box — limited explainability without SHAP values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426" y="14023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1238865"/>
            <a:ext cx="1061884" cy="561913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ectangle 47"/>
          <p:cNvSpPr/>
          <p:nvPr/>
        </p:nvSpPr>
        <p:spPr>
          <a:xfrm>
            <a:off x="0" y="6590273"/>
            <a:ext cx="12192000" cy="26772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TextBox 49"/>
          <p:cNvSpPr txBox="1"/>
          <p:nvPr/>
        </p:nvSpPr>
        <p:spPr>
          <a:xfrm>
            <a:off x="11543071" y="65394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51" name="Rectangle: Rounded Corners 50"/>
          <p:cNvSpPr/>
          <p:nvPr/>
        </p:nvSpPr>
        <p:spPr>
          <a:xfrm>
            <a:off x="10991028" y="192464"/>
            <a:ext cx="948116" cy="104640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651" y="348530"/>
            <a:ext cx="759341" cy="7342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2947" y="6600105"/>
            <a:ext cx="52758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Variable Display" pitchFamily="2" charset="0"/>
              </a:rPr>
              <a:t>DEPARTMENT OF COMPUTER SCIENCE AND ENGINEERING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838201" y="1238865"/>
            <a:ext cx="47686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684" y="1394931"/>
            <a:ext cx="10879459" cy="51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ucida Bright" panose="02040602050505020304" pitchFamily="18" charset="0"/>
              </a:rPr>
              <a:t>Successfully built and compared 4 ML models for HR attrition prediction on IBM dataset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ucida Bright" panose="02040602050505020304" pitchFamily="18" charset="0"/>
              </a:rPr>
              <a:t>Random Forest achieved best AUC Score of 86.86% and Accuracy of 87.07%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ucida Bright" panose="02040602050505020304" pitchFamily="18" charset="0"/>
              </a:rPr>
              <a:t>MonthlyIncome, OverTime, and Age are the strongest predictors of employee attrition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ucida Bright" panose="02040602050505020304" pitchFamily="18" charset="0"/>
              </a:rPr>
              <a:t>Deployed an interactive 4-page Streamlit dashboard for real-time HR prediction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ucida Bright" panose="02040602050505020304" pitchFamily="18" charset="0"/>
              </a:rPr>
              <a:t>Project proves ML can significantly improve HR decision-making and reduce turnover costs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426" y="14023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</a:rPr>
              <a:t>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1238865"/>
            <a:ext cx="1061884" cy="561913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ectangle 47"/>
          <p:cNvSpPr/>
          <p:nvPr/>
        </p:nvSpPr>
        <p:spPr>
          <a:xfrm>
            <a:off x="0" y="6590273"/>
            <a:ext cx="12192000" cy="26772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TextBox 49"/>
          <p:cNvSpPr txBox="1"/>
          <p:nvPr/>
        </p:nvSpPr>
        <p:spPr>
          <a:xfrm>
            <a:off x="11543071" y="65394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16</a:t>
            </a:r>
          </a:p>
        </p:txBody>
      </p:sp>
      <p:sp>
        <p:nvSpPr>
          <p:cNvPr id="51" name="Rectangle: Rounded Corners 50"/>
          <p:cNvSpPr/>
          <p:nvPr/>
        </p:nvSpPr>
        <p:spPr>
          <a:xfrm>
            <a:off x="10991028" y="192464"/>
            <a:ext cx="948116" cy="104640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651" y="348530"/>
            <a:ext cx="759341" cy="7342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2947" y="6600105"/>
            <a:ext cx="52758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Variable Display" pitchFamily="2" charset="0"/>
              </a:rPr>
              <a:t>DEPARTMENT OF COMPUTER SCIENCE AND ENGINEERING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838201" y="1238865"/>
            <a:ext cx="47686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684" y="1394931"/>
            <a:ext cx="10879459" cy="51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ucida Bright" panose="02040602050505020304" pitchFamily="18" charset="0"/>
              </a:rPr>
              <a:t>Apply SMOTE oversampling to fix class imbalance (16% attrition cases) for better minority prediction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ucida Bright" panose="02040602050505020304" pitchFamily="18" charset="0"/>
              </a:rPr>
              <a:t>Add SHAP values for better model explainability — show WHY each prediction is made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ucida Bright" panose="02040602050505020304" pitchFamily="18" charset="0"/>
              </a:rPr>
              <a:t>Train on real-world company data for better generalization beyond IBM dataset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ucida Bright" panose="02040602050505020304" pitchFamily="18" charset="0"/>
              </a:rPr>
              <a:t>Deploy to cloud (AWS / Google Cloud) for organization-wide HR access and scalability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ucida Bright" panose="02040602050505020304" pitchFamily="18" charset="0"/>
              </a:rPr>
              <a:t>Extend to predict attrition timeline — predict WHEN an employee might leave, not just IF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Lucida Bright" panose="02040602050505020304" pitchFamily="18" charset="0"/>
              </a:rPr>
              <a:t>Integrate with live HRMS systems for real-time data feeds and continuous monitoring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426" y="14023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</a:rP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1238865"/>
            <a:ext cx="1061884" cy="561913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ectangle 47"/>
          <p:cNvSpPr/>
          <p:nvPr/>
        </p:nvSpPr>
        <p:spPr>
          <a:xfrm>
            <a:off x="0" y="6590273"/>
            <a:ext cx="12192000" cy="26772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TextBox 49"/>
          <p:cNvSpPr txBox="1"/>
          <p:nvPr/>
        </p:nvSpPr>
        <p:spPr>
          <a:xfrm>
            <a:off x="11543071" y="65394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17</a:t>
            </a:r>
          </a:p>
        </p:txBody>
      </p:sp>
      <p:sp>
        <p:nvSpPr>
          <p:cNvPr id="51" name="Rectangle: Rounded Corners 50"/>
          <p:cNvSpPr/>
          <p:nvPr/>
        </p:nvSpPr>
        <p:spPr>
          <a:xfrm>
            <a:off x="10991028" y="192464"/>
            <a:ext cx="948116" cy="1046401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651" y="348530"/>
            <a:ext cx="759341" cy="7342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2947" y="6600105"/>
            <a:ext cx="52758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Variable Display" pitchFamily="2" charset="0"/>
              </a:rPr>
              <a:t>DEPARTMENT OF COMPUTER SCIENCE AND ENGINEERING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838201" y="1238865"/>
            <a:ext cx="47686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684" y="1394931"/>
            <a:ext cx="10879459" cy="51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ucida Bright" panose="02040602050505020304" pitchFamily="18" charset="0"/>
              </a:rPr>
              <a:t>[1] IBM HR Analytics Employee Attrition &amp; Performance Dataset. Kaggle, 2017. https://www.kaggle.com/datasets/pavansubhasht/ibm-hr-analytics-attrition-dataset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ucida Bright" panose="02040602050505020304" pitchFamily="18" charset="0"/>
              </a:rPr>
              <a:t>[2] Breiman, L. (2001). Random Forests. Machine Learning, 45(1), 5-32. DOI: 10.1023/A:1010933404324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ucida Bright" panose="02040602050505020304" pitchFamily="18" charset="0"/>
              </a:rPr>
              <a:t>[3] Pedregosa et al. (2011). Scikit-learn: Machine Learning in Python. JMLR 12, 2825-2830. https://scikit-learn.org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ucida Bright" panose="02040602050505020304" pitchFamily="18" charset="0"/>
              </a:rPr>
              <a:t>[4] Streamlit Inc. (2023). Streamlit — The fastest way to build and share data apps. https://streamlit.io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ucida Bright" panose="02040602050505020304" pitchFamily="18" charset="0"/>
              </a:rPr>
              <a:t>[5] Ahuja, R. &amp; Jha, A. (2020). Employee Attrition Prediction Using Machine Learning. IJCA 175(22).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ucida Bright" panose="02040602050505020304" pitchFamily="18" charset="0"/>
              </a:rPr>
              <a:t>[6] Frye, A., Boomhower, C., et al. (2018). Predicting Employee Attrition Using Random Forests. Proc. 2018 MLRS Conference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ucida Bright" panose="02040602050505020304" pitchFamily="18" charset="0"/>
              </a:rPr>
              <a:t>[7] Plotly Technologies Inc. (2023). Plotly Python Open Source Graphing Library. https://plotly.com/python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1B00B-6AFB-9797-C3F5-A364CB598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05F0F52-0796-06AD-F066-72BD89B92120}"/>
              </a:ext>
            </a:extLst>
          </p:cNvPr>
          <p:cNvSpPr/>
          <p:nvPr/>
        </p:nvSpPr>
        <p:spPr>
          <a:xfrm>
            <a:off x="0" y="1"/>
            <a:ext cx="1061884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1B5C1FB-3E2C-C8B6-E679-942A8A5321B4}"/>
              </a:ext>
            </a:extLst>
          </p:cNvPr>
          <p:cNvSpPr/>
          <p:nvPr/>
        </p:nvSpPr>
        <p:spPr>
          <a:xfrm>
            <a:off x="0" y="6590273"/>
            <a:ext cx="12192000" cy="26772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460183-7B36-8E66-27B3-C5A089902E97}"/>
              </a:ext>
            </a:extLst>
          </p:cNvPr>
          <p:cNvSpPr txBox="1"/>
          <p:nvPr/>
        </p:nvSpPr>
        <p:spPr>
          <a:xfrm>
            <a:off x="11543071" y="653947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9B2A0D-8CBD-1CB5-EA33-C8BDC790C466}"/>
              </a:ext>
            </a:extLst>
          </p:cNvPr>
          <p:cNvSpPr txBox="1"/>
          <p:nvPr/>
        </p:nvSpPr>
        <p:spPr>
          <a:xfrm>
            <a:off x="3598537" y="6581001"/>
            <a:ext cx="415690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Segoe UI Variable Display" pitchFamily="2" charset="0"/>
              </a:rPr>
              <a:t>DEPARTMENT OF COMPUTER SCIENCE AND ENGINEERING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06D445-CEA1-66F4-D3DB-D48A64EAF222}"/>
              </a:ext>
            </a:extLst>
          </p:cNvPr>
          <p:cNvSpPr/>
          <p:nvPr/>
        </p:nvSpPr>
        <p:spPr>
          <a:xfrm>
            <a:off x="11133475" y="-15880"/>
            <a:ext cx="1061884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887EB0-9F55-3943-D9D8-7917D1A63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534" y="1340129"/>
            <a:ext cx="6199809" cy="31766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987E20-B35D-D88C-80E1-C437B22FC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8537" y="5181806"/>
            <a:ext cx="5011372" cy="1011028"/>
          </a:xfrm>
          <a:prstGeom prst="rect">
            <a:avLst/>
          </a:prstGeom>
        </p:spPr>
      </p:pic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E1C4682-A707-440C-6C03-A716AE3020C7}"/>
              </a:ext>
            </a:extLst>
          </p:cNvPr>
          <p:cNvSpPr/>
          <p:nvPr/>
        </p:nvSpPr>
        <p:spPr>
          <a:xfrm>
            <a:off x="5132438" y="505513"/>
            <a:ext cx="2383626" cy="2422917"/>
          </a:xfrm>
          <a:prstGeom prst="round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2BB41105-3FAC-EFA7-D414-689D1BBAAE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102" y="643128"/>
            <a:ext cx="2058297" cy="199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049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2548</Words>
  <Application>Microsoft Office PowerPoint</Application>
  <PresentationFormat>Widescreen</PresentationFormat>
  <Paragraphs>274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Bahnschrift SemiBold</vt:lpstr>
      <vt:lpstr>Calibri</vt:lpstr>
      <vt:lpstr>Calibri Light</vt:lpstr>
      <vt:lpstr>Courier New</vt:lpstr>
      <vt:lpstr>Garamond</vt:lpstr>
      <vt:lpstr>Lucida Bright</vt:lpstr>
      <vt:lpstr>Segoe UI Semilight</vt:lpstr>
      <vt:lpstr>Segoe UI Variable Display</vt:lpstr>
      <vt:lpstr>Office Theme</vt:lpstr>
      <vt:lpstr>EMPLOYEE PERFORMANCE AND ATTRITION EARLY WARNING SYSTEM Using Machine Learning &amp; Streamlit Dashboard</vt:lpstr>
      <vt:lpstr>Contents</vt:lpstr>
      <vt:lpstr>Introduction</vt:lpstr>
      <vt:lpstr>Project Objective</vt:lpstr>
      <vt:lpstr>Dataset Description</vt:lpstr>
      <vt:lpstr>Important Features</vt:lpstr>
      <vt:lpstr>Data Cleaning</vt:lpstr>
      <vt:lpstr>Exploratory Data Analysis (EDA)</vt:lpstr>
      <vt:lpstr>Machine Learning Models</vt:lpstr>
      <vt:lpstr>Python Implementation — Part 1</vt:lpstr>
      <vt:lpstr>Python Implementation — Part 2</vt:lpstr>
      <vt:lpstr>Streamlit Dashboard — 4 Pages</vt:lpstr>
      <vt:lpstr>Results &amp; Model Comparison</vt:lpstr>
      <vt:lpstr>Key Findings from Data Analysis</vt:lpstr>
      <vt:lpstr>Advantages &amp; Limitations</vt:lpstr>
      <vt:lpstr>Conclusion</vt:lpstr>
      <vt:lpstr>Future Work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v</dc:creator>
  <cp:lastModifiedBy>Ankita Gouda</cp:lastModifiedBy>
  <cp:revision>16</cp:revision>
  <dcterms:created xsi:type="dcterms:W3CDTF">2026-04-13T16:36:54Z</dcterms:created>
  <dcterms:modified xsi:type="dcterms:W3CDTF">2026-04-27T06:23:40Z</dcterms:modified>
</cp:coreProperties>
</file>